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เปิดเรื่อง" id="{84886E5F-FA73-AE87-63BF-501B9D659281}">
          <p14:sldIdLst>
            <p14:sldId id="256"/>
            <p14:sldId id="266"/>
            <p14:sldId id="257"/>
          </p14:sldIdLst>
        </p14:section>
        <p14:section name="ผลและการใช้งาน" id="{5B26094F-A87B-C600-E91E-2770D7CB848A}">
          <p14:sldIdLst>
            <p14:sldId id="258"/>
            <p14:sldId id="259"/>
            <p14:sldId id="260"/>
            <p14:sldId id="261"/>
            <p14:sldId id="262"/>
            <p14:sldId id="263"/>
            <p14:sldId id="264"/>
          </p14:sldIdLst>
        </p14:section>
        <p14:section name="สรุป" id="{6EF1DC4F-441F-AFA1-0854-1F9E7A5D4C0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59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9229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บอกว่าวันนี้รายงานเฉพาะความคืบหน้าของเว็บไซต์ ไม่ทวนทั้งโครงงาน ใช้เวลาประมาณ 8 นาที</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หน้าปิด บอกชื่ออาจารย์ที่ปรึกษาและผู้จัดทำ แล้วขอบคุณ จากนั้นเปิดให้ซักถาม</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ไล่สี่หัวข้อเร็ว ๆ แล้วย้ำว่าตัวแบบกับข้อมูลไม่เปลี่ยน รอบนี้แก้ที่การนำเสนอผลล้วน ๆ</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ตัวเลขชุดนี้คือผลการประมวลผลเดิมตามเล่ม ไม่ได้รันใหม่และไม่ได้ปรับพารามิเตอร์ สามตัวแบบแทบไม่ต่างกัน เราจึงเลือกด้วยสองเกณฑ์ที่ประกาศไว้ล่วงหน้า</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สไลด์นี้ตอบคำถามว่าตารางในสไลด์ที่แล้วมาจากไหน นี่คือผลที่โปรแกรมพิมพ์ออกมาตอนรันจริงเมื่อวันที่ 1 กันยายน ข้อมูลหลังคลีน 1,572,358 แถว เทรนทั้งสามตัวแบบด้วย Stratified 10-fold ชุดเดียวกัน ค่าที่ได้ตรงกับตารางที่ 4.1 ในเล่มทุกตัว เวลาเทรน Decision Tree 102 วินาที Gradient Boosted Trees 376 วินาที และ Random Forest 1,247 วินาที ซึ่งนานกว่า Decision Tree ราว 12 เท่า ทั้งที่ความแม่นยำไม่ต่างกัน ถ้าอาจารย์ขอดูโค้ด มีไฟล์สคริปต์กับคู่มือการรันแนบไว้แล้ว</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ถ้ามีเวลาสาธิต ให้ลากซูมบนกราฟ 60 เดือน แล้วกดแท่งกลุ่มปลาเพื่อเจาะลงไปดูชนิด สองอันนี้เห็นผลชัดที่สุดบนจอโปรเจกเตอร์ และบอกเพิ่มว่ามีคำอธิบายศัพท์เทคนิค 21 จุด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ประเด็นคือเราไม่ได้แค่ใส่ media query แล้วเชื่อว่าใช้ได้ แต่วัดจริงทุกหน้าทุกความกว้าง และเจอบั๊กหนึ่งตัวที่มองด้วยตาไม่เห็น เสริมได้ว่ากราฟเป็น SVG ที่ใช้ viewBox จึงย่อขยายได้โดยไม่เสียความคม</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ตัวเลข 97.20 กับ 99.28 เป็นคนละชุดฟีเจอร์ บอกไว้บนสไลด์แล้วเพื่อไม่ให้ถูกถาม</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ถ้าสาธิตสด ให้เปิดมุมมองต้นไม้ กดพุ่มหนา ลากดู แล้วกดที่ป้ายเงื่อนไขหนึ่งอันให้เห็นว่ารายละเอียดเต็มขึ้นข้างล่าง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คำตอบเต็มแต่ละข้อ หนึ่ง สัตว์น้ำเลี้ยงสวยงามเป็นรหัสหนึ่งใน 27 รหัสของคอลัมน์ลักษณะสินค้า แยกจากรหัสมีชีวิตตามการจัดหมวดของกรมประมงเอง สอง ในสัตว์น้ำมีชีวิตปริมาณเกิน 40 กิโล จีน 33,681 รายการไปทางอากาศ 100 เปอร์เซ็นต์ ฮ่องกง 23,833 รายการทางอากาศ 100 เปอร์เซ็นต์ กัมพูชา 12,834 รายการทางบก 100 เปอร์เซ็นต์ ลาว 10,008 รายการทางบก 98.9 เปอร์เซ็นต์ รวมกัน 83.6 เปอร์เซ็นต์ของสาขานั้น สาม รหัส ผง มีเพียง 1 รายการจาก 1,572,358 รายการ จึงไม่มีกิ่งของตัวเอง</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ปิดด้วยประโยคว่า รอบนี้เน้นทำให้สิ่งที่มีอยู่แล้วอธิบายตัวเองได้ มากกว่าการเพิ่มความแม่นยำ แล้วเปิดให้ถาม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7F9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475488"/>
            <a:ext cx="10765231" cy="1051560"/>
          </a:xfrm>
          <a:prstGeom prst="rect">
            <a:avLst/>
          </a:prstGeom>
          <a:noFill/>
          <a:ln/>
        </p:spPr>
        <p:txBody>
          <a:bodyPr wrap="square" rtlCol="0"/>
          <a:lstStyle>
            <a:lvl1pPr marL="0" indent="0" algn="l">
              <a:buNone/>
              <a:defRPr lang="en-US" sz="3600" b="1" dirty="0">
                <a:solidFill>
                  <a:srgbClr val="123A6B"/>
                </a:solidFill>
              </a:defRPr>
            </a:lvl1pPr>
          </a:lstStyle>
          <a:p>
            <a:pPr marL="0" indent="0" algn="l">
              <a:buNone/>
            </a:pPr>
            <a:endParaRPr lang="en-US" sz="3600" dirty="0"/>
          </a:p>
        </p:txBody>
      </p:sp>
      <p:sp>
        <p:nvSpPr>
          <p:cNvPr id="3" name="Text 0"/>
          <p:cNvSpPr txBox="1"/>
          <p:nvPr/>
        </p:nvSpPr>
        <p:spPr>
          <a:xfrm>
            <a:off x="713232" y="6364224"/>
            <a:ext cx="7315200" cy="274320"/>
          </a:xfrm>
          <a:prstGeom prst="rect">
            <a:avLst/>
          </a:prstGeom>
          <a:noFill/>
          <a:ln/>
        </p:spPr>
        <p:txBody>
          <a:bodyPr wrap="square" lIns="0" tIns="0" rIns="0" bIns="0" rtlCol="0" anchor="ctr"/>
          <a:lstStyle/>
          <a:p>
            <a:pPr marL="0" indent="0">
              <a:buNone/>
            </a:pPr>
            <a:r>
              <a:rPr lang="en-US" sz="1200" dirty="0">
                <a:solidFill>
                  <a:srgbClr val="78899C"/>
                </a:solidFill>
              </a:rPr>
              <a:t>ระบบจำแนกช่องทางการขนส่งสินค้าส่งออกสัตว์น้ำ</a:t>
            </a:r>
            <a:endParaRPr lang="en-US" sz="1200" dirty="0"/>
          </a:p>
        </p:txBody>
      </p:sp>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
    <p:bg>
      <p:bgPr>
        <a:solidFill>
          <a:srgbClr val="E6F0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475488"/>
            <a:ext cx="10765231" cy="1051560"/>
          </a:xfrm>
          <a:prstGeom prst="rect">
            <a:avLst/>
          </a:prstGeom>
          <a:noFill/>
          <a:ln/>
        </p:spPr>
        <p:txBody>
          <a:bodyPr wrap="square" rtlCol="0"/>
          <a:lstStyle>
            <a:lvl1pPr marL="0" indent="0" algn="l">
              <a:buNone/>
              <a:defRPr lang="en-US" sz="3600" b="1" dirty="0">
                <a:solidFill>
                  <a:srgbClr val="123A6B"/>
                </a:solidFill>
              </a:defRPr>
            </a:lvl1pPr>
          </a:lstStyle>
          <a:p>
            <a:pPr marL="0" indent="0" algn="l">
              <a:buNone/>
            </a:pPr>
            <a:endParaRPr lang="en-US" sz="3600" dirty="0"/>
          </a:p>
        </p:txBody>
      </p:sp>
      <p:sp>
        <p:nvSpPr>
          <p:cNvPr id="3" name="Text 0"/>
          <p:cNvSpPr txBox="1"/>
          <p:nvPr/>
        </p:nvSpPr>
        <p:spPr>
          <a:xfrm>
            <a:off x="713232" y="6364224"/>
            <a:ext cx="7315200" cy="274320"/>
          </a:xfrm>
          <a:prstGeom prst="rect">
            <a:avLst/>
          </a:prstGeom>
          <a:noFill/>
          <a:ln/>
        </p:spPr>
        <p:txBody>
          <a:bodyPr wrap="square" lIns="0" tIns="0" rIns="0" bIns="0" rtlCol="0" anchor="ctr"/>
          <a:lstStyle/>
          <a:p>
            <a:pPr marL="0" indent="0">
              <a:buNone/>
            </a:pPr>
            <a:r>
              <a:rPr lang="en-US" sz="1200" dirty="0">
                <a:solidFill>
                  <a:srgbClr val="78899C"/>
                </a:solidFill>
              </a:rPr>
              <a:t>ระบบจำแนกช่องทางการขนส่งสินค้าส่งออกสัตว์น้ำ</a:t>
            </a:r>
            <a:endParaRPr lang="en-US" sz="1200" dirty="0"/>
          </a:p>
        </p:txBody>
      </p:sp>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E6F0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13232" y="1965960"/>
            <a:ext cx="10424160" cy="2103120"/>
          </a:xfrm>
          <a:prstGeom prst="rect">
            <a:avLst/>
          </a:prstGeom>
          <a:noFill/>
          <a:ln/>
        </p:spPr>
        <p:txBody>
          <a:bodyPr wrap="square" rtlCol="0"/>
          <a:lstStyle>
            <a:lvl1pPr marL="0" indent="0" algn="l">
              <a:buNone/>
              <a:defRPr lang="en-US" sz="5400" b="1" dirty="0">
                <a:solidFill>
                  <a:srgbClr val="123A6B"/>
                </a:solidFill>
              </a:defRPr>
            </a:lvl1pPr>
          </a:lstStyle>
          <a:p>
            <a:pPr marL="0" indent="0" algn="l">
              <a:buNone/>
            </a:pPr>
            <a:endParaRPr lang="en-US" sz="5400" dirty="0"/>
          </a:p>
        </p:txBody>
      </p:sp>
      <p:sp>
        <p:nvSpPr>
          <p:cNvPr id="3" name="Text 0"/>
          <p:cNvSpPr>
            <a:spLocks noGrp="1"/>
          </p:cNvSpPr>
          <p:nvPr>
            <p:ph type="body" idx="101" hasCustomPrompt="1"/>
          </p:nvPr>
        </p:nvSpPr>
        <p:spPr>
          <a:xfrm>
            <a:off x="713232" y="4160520"/>
            <a:ext cx="9692640" cy="914400"/>
          </a:xfrm>
          <a:prstGeom prst="rect">
            <a:avLst/>
          </a:prstGeom>
          <a:noFill/>
          <a:ln/>
        </p:spPr>
        <p:txBody>
          <a:bodyPr wrap="square" rtlCol="0"/>
          <a:lstStyle>
            <a:lvl1pPr marL="0" indent="0" algn="l">
              <a:buNone/>
              <a:defRPr lang="en-US" sz="2400" dirty="0">
                <a:solidFill>
                  <a:srgbClr val="44576E"/>
                </a:solidFill>
              </a:defRPr>
            </a:lvl1pPr>
          </a:lstStyle>
          <a:p>
            <a:pPr marL="0" indent="0" algn="l">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blobA"/>
          <p:cNvSpPr/>
          <p:nvPr/>
        </p:nvSpPr>
        <p:spPr>
          <a:xfrm>
            <a:off x="9418320" y="-1371600"/>
            <a:ext cx="4206240" cy="4206240"/>
          </a:xfrm>
          <a:prstGeom prst="ellipse">
            <a:avLst/>
          </a:prstGeom>
          <a:solidFill>
            <a:srgbClr val="0E7E99">
              <a:alpha val="16000"/>
            </a:srgbClr>
          </a:solidFill>
          <a:ln/>
        </p:spPr>
        <p:txBody>
          <a:bodyPr/>
          <a:lstStyle/>
          <a:p>
            <a:endParaRPr lang="en-US"/>
          </a:p>
        </p:txBody>
      </p:sp>
      <p:sp>
        <p:nvSpPr>
          <p:cNvPr id="6" name="blobB"/>
          <p:cNvSpPr/>
          <p:nvPr/>
        </p:nvSpPr>
        <p:spPr>
          <a:xfrm>
            <a:off x="10789920" y="91440"/>
            <a:ext cx="2834640" cy="2834640"/>
          </a:xfrm>
          <a:prstGeom prst="ellipse">
            <a:avLst/>
          </a:prstGeom>
          <a:solidFill>
            <a:srgbClr val="123A6B">
              <a:alpha val="12000"/>
            </a:srgbClr>
          </a:solidFill>
          <a:ln/>
        </p:spPr>
        <p:txBody>
          <a:bodyPr/>
          <a:lstStyle/>
          <a:p>
            <a:endParaRPr lang="en-US"/>
          </a:p>
        </p:txBody>
      </p:sp>
      <p:sp>
        <p:nvSpPr>
          <p:cNvPr id="7" name="blobC"/>
          <p:cNvSpPr/>
          <p:nvPr/>
        </p:nvSpPr>
        <p:spPr>
          <a:xfrm rot="-1440000">
            <a:off x="10058400" y="-914400"/>
            <a:ext cx="2377440" cy="2377440"/>
          </a:xfrm>
          <a:prstGeom prst="roundRect">
            <a:avLst>
              <a:gd name="adj" fmla="val 13462"/>
            </a:avLst>
          </a:prstGeom>
          <a:solidFill>
            <a:srgbClr val="0E9FBF">
              <a:alpha val="10000"/>
            </a:srgbClr>
          </a:solidFill>
          <a:ln/>
        </p:spPr>
        <p:txBody>
          <a:bodyPr/>
          <a:lstStyle/>
          <a:p>
            <a:endParaRPr lang="en-US"/>
          </a:p>
        </p:txBody>
      </p:sp>
      <p:sp>
        <p:nvSpPr>
          <p:cNvPr id="8" name="blobA"/>
          <p:cNvSpPr/>
          <p:nvPr/>
        </p:nvSpPr>
        <p:spPr>
          <a:xfrm>
            <a:off x="8778240" y="4206240"/>
            <a:ext cx="3028493" cy="3028493"/>
          </a:xfrm>
          <a:prstGeom prst="ellipse">
            <a:avLst/>
          </a:prstGeom>
          <a:solidFill>
            <a:srgbClr val="0E7E99">
              <a:alpha val="16000"/>
            </a:srgbClr>
          </a:solidFill>
          <a:ln/>
        </p:spPr>
        <p:txBody>
          <a:bodyPr/>
          <a:lstStyle/>
          <a:p>
            <a:endParaRPr lang="en-US"/>
          </a:p>
        </p:txBody>
      </p:sp>
      <p:sp>
        <p:nvSpPr>
          <p:cNvPr id="9" name="blobB"/>
          <p:cNvSpPr/>
          <p:nvPr/>
        </p:nvSpPr>
        <p:spPr>
          <a:xfrm>
            <a:off x="7790688" y="5259629"/>
            <a:ext cx="2040941" cy="2040941"/>
          </a:xfrm>
          <a:prstGeom prst="ellipse">
            <a:avLst/>
          </a:prstGeom>
          <a:solidFill>
            <a:srgbClr val="123A6B">
              <a:alpha val="12000"/>
            </a:srgbClr>
          </a:solidFill>
          <a:ln/>
        </p:spPr>
        <p:txBody>
          <a:bodyPr/>
          <a:lstStyle/>
          <a:p>
            <a:endParaRPr lang="en-US"/>
          </a:p>
        </p:txBody>
      </p:sp>
      <p:sp>
        <p:nvSpPr>
          <p:cNvPr id="10" name="blobC"/>
          <p:cNvSpPr/>
          <p:nvPr/>
        </p:nvSpPr>
        <p:spPr>
          <a:xfrm rot="1440000">
            <a:off x="8317382" y="4535424"/>
            <a:ext cx="1711757" cy="1711757"/>
          </a:xfrm>
          <a:prstGeom prst="roundRect">
            <a:avLst>
              <a:gd name="adj" fmla="val 18697"/>
            </a:avLst>
          </a:prstGeom>
          <a:solidFill>
            <a:srgbClr val="0E9FBF">
              <a:alpha val="10000"/>
            </a:srgbClr>
          </a:solidFill>
          <a:ln/>
        </p:spPr>
        <p:txBody>
          <a:bodyPr/>
          <a:lstStyle/>
          <a:p>
            <a:endParaRPr lang="en-US"/>
          </a:p>
        </p:txBody>
      </p:sp>
      <p:sp>
        <p:nvSpPr>
          <p:cNvPr id="11" name="dot"/>
          <p:cNvSpPr/>
          <p:nvPr/>
        </p:nvSpPr>
        <p:spPr>
          <a:xfrm>
            <a:off x="713232" y="914400"/>
            <a:ext cx="65837" cy="65837"/>
          </a:xfrm>
          <a:prstGeom prst="ellipse">
            <a:avLst/>
          </a:prstGeom>
          <a:solidFill>
            <a:srgbClr val="0E7E99">
              <a:alpha val="45000"/>
            </a:srgbClr>
          </a:solidFill>
          <a:ln/>
        </p:spPr>
        <p:txBody>
          <a:bodyPr/>
          <a:lstStyle/>
          <a:p>
            <a:endParaRPr lang="en-US"/>
          </a:p>
        </p:txBody>
      </p:sp>
      <p:sp>
        <p:nvSpPr>
          <p:cNvPr id="12" name="dot"/>
          <p:cNvSpPr/>
          <p:nvPr/>
        </p:nvSpPr>
        <p:spPr>
          <a:xfrm>
            <a:off x="713232" y="1069848"/>
            <a:ext cx="65837" cy="65837"/>
          </a:xfrm>
          <a:prstGeom prst="ellipse">
            <a:avLst/>
          </a:prstGeom>
          <a:solidFill>
            <a:srgbClr val="0E7E99">
              <a:alpha val="45000"/>
            </a:srgbClr>
          </a:solidFill>
          <a:ln/>
        </p:spPr>
        <p:txBody>
          <a:bodyPr/>
          <a:lstStyle/>
          <a:p>
            <a:endParaRPr lang="en-US"/>
          </a:p>
        </p:txBody>
      </p:sp>
      <p:sp>
        <p:nvSpPr>
          <p:cNvPr id="13" name="dot"/>
          <p:cNvSpPr/>
          <p:nvPr/>
        </p:nvSpPr>
        <p:spPr>
          <a:xfrm>
            <a:off x="713232" y="1225296"/>
            <a:ext cx="65837" cy="65837"/>
          </a:xfrm>
          <a:prstGeom prst="ellipse">
            <a:avLst/>
          </a:prstGeom>
          <a:solidFill>
            <a:srgbClr val="0E7E99">
              <a:alpha val="45000"/>
            </a:srgbClr>
          </a:solidFill>
          <a:ln/>
        </p:spPr>
        <p:txBody>
          <a:bodyPr/>
          <a:lstStyle/>
          <a:p>
            <a:endParaRPr lang="en-US"/>
          </a:p>
        </p:txBody>
      </p:sp>
      <p:sp>
        <p:nvSpPr>
          <p:cNvPr id="14" name="dot"/>
          <p:cNvSpPr/>
          <p:nvPr/>
        </p:nvSpPr>
        <p:spPr>
          <a:xfrm>
            <a:off x="868680" y="914400"/>
            <a:ext cx="65837" cy="65837"/>
          </a:xfrm>
          <a:prstGeom prst="ellipse">
            <a:avLst/>
          </a:prstGeom>
          <a:solidFill>
            <a:srgbClr val="0E7E99">
              <a:alpha val="45000"/>
            </a:srgbClr>
          </a:solidFill>
          <a:ln/>
        </p:spPr>
        <p:txBody>
          <a:bodyPr/>
          <a:lstStyle/>
          <a:p>
            <a:endParaRPr lang="en-US"/>
          </a:p>
        </p:txBody>
      </p:sp>
      <p:sp>
        <p:nvSpPr>
          <p:cNvPr id="15" name="dot"/>
          <p:cNvSpPr/>
          <p:nvPr/>
        </p:nvSpPr>
        <p:spPr>
          <a:xfrm>
            <a:off x="868680" y="1069848"/>
            <a:ext cx="65837" cy="65837"/>
          </a:xfrm>
          <a:prstGeom prst="ellipse">
            <a:avLst/>
          </a:prstGeom>
          <a:solidFill>
            <a:srgbClr val="0E7E99">
              <a:alpha val="45000"/>
            </a:srgbClr>
          </a:solidFill>
          <a:ln/>
        </p:spPr>
        <p:txBody>
          <a:bodyPr/>
          <a:lstStyle/>
          <a:p>
            <a:endParaRPr lang="en-US"/>
          </a:p>
        </p:txBody>
      </p:sp>
      <p:sp>
        <p:nvSpPr>
          <p:cNvPr id="16" name="dot"/>
          <p:cNvSpPr/>
          <p:nvPr/>
        </p:nvSpPr>
        <p:spPr>
          <a:xfrm>
            <a:off x="868680" y="1225296"/>
            <a:ext cx="65837" cy="65837"/>
          </a:xfrm>
          <a:prstGeom prst="ellipse">
            <a:avLst/>
          </a:prstGeom>
          <a:solidFill>
            <a:srgbClr val="0E7E99">
              <a:alpha val="45000"/>
            </a:srgbClr>
          </a:solidFill>
          <a:ln/>
        </p:spPr>
        <p:txBody>
          <a:bodyPr/>
          <a:lstStyle/>
          <a:p>
            <a:endParaRPr lang="en-US"/>
          </a:p>
        </p:txBody>
      </p:sp>
      <p:sp>
        <p:nvSpPr>
          <p:cNvPr id="17" name="dot"/>
          <p:cNvSpPr/>
          <p:nvPr/>
        </p:nvSpPr>
        <p:spPr>
          <a:xfrm>
            <a:off x="1024128" y="914400"/>
            <a:ext cx="65837" cy="65837"/>
          </a:xfrm>
          <a:prstGeom prst="ellipse">
            <a:avLst/>
          </a:prstGeom>
          <a:solidFill>
            <a:srgbClr val="0E7E99">
              <a:alpha val="45000"/>
            </a:srgbClr>
          </a:solidFill>
          <a:ln/>
        </p:spPr>
        <p:txBody>
          <a:bodyPr/>
          <a:lstStyle/>
          <a:p>
            <a:endParaRPr lang="en-US"/>
          </a:p>
        </p:txBody>
      </p:sp>
      <p:sp>
        <p:nvSpPr>
          <p:cNvPr id="18" name="dot"/>
          <p:cNvSpPr/>
          <p:nvPr/>
        </p:nvSpPr>
        <p:spPr>
          <a:xfrm>
            <a:off x="1024128" y="1069848"/>
            <a:ext cx="65837" cy="65837"/>
          </a:xfrm>
          <a:prstGeom prst="ellipse">
            <a:avLst/>
          </a:prstGeom>
          <a:solidFill>
            <a:srgbClr val="0E7E99">
              <a:alpha val="45000"/>
            </a:srgbClr>
          </a:solidFill>
          <a:ln/>
        </p:spPr>
        <p:txBody>
          <a:bodyPr/>
          <a:lstStyle/>
          <a:p>
            <a:endParaRPr lang="en-US"/>
          </a:p>
        </p:txBody>
      </p:sp>
      <p:sp>
        <p:nvSpPr>
          <p:cNvPr id="19" name="dot"/>
          <p:cNvSpPr/>
          <p:nvPr/>
        </p:nvSpPr>
        <p:spPr>
          <a:xfrm>
            <a:off x="1024128" y="1225296"/>
            <a:ext cx="65837" cy="65837"/>
          </a:xfrm>
          <a:prstGeom prst="ellipse">
            <a:avLst/>
          </a:prstGeom>
          <a:solidFill>
            <a:srgbClr val="0E7E99">
              <a:alpha val="45000"/>
            </a:srgbClr>
          </a:solidFill>
          <a:ln/>
        </p:spPr>
        <p:txBody>
          <a:bodyPr/>
          <a:lstStyle/>
          <a:p>
            <a:endParaRPr lang="en-US"/>
          </a:p>
        </p:txBody>
      </p:sp>
      <p:sp>
        <p:nvSpPr>
          <p:cNvPr id="22" name="coverRule"/>
          <p:cNvSpPr/>
          <p:nvPr/>
        </p:nvSpPr>
        <p:spPr>
          <a:xfrm>
            <a:off x="713232" y="1664208"/>
            <a:ext cx="2103120" cy="0"/>
          </a:xfrm>
          <a:prstGeom prst="line">
            <a:avLst/>
          </a:prstGeom>
          <a:noFill/>
          <a:ln w="12700">
            <a:solidFill>
              <a:srgbClr val="0E7E99"/>
            </a:solidFill>
            <a:prstDash val="solid"/>
          </a:ln>
        </p:spPr>
        <p:txBody>
          <a:bodyPr/>
          <a:lstStyle/>
          <a:p>
            <a:endParaRPr lang="en-US"/>
          </a:p>
        </p:txBody>
      </p:sp>
      <p:sp>
        <p:nvSpPr>
          <p:cNvPr id="24" name="meta"/>
          <p:cNvSpPr txBox="1"/>
          <p:nvPr/>
        </p:nvSpPr>
        <p:spPr>
          <a:xfrm>
            <a:off x="713232" y="5897880"/>
            <a:ext cx="8229600" cy="365760"/>
          </a:xfrm>
          <a:prstGeom prst="rect">
            <a:avLst/>
          </a:prstGeom>
          <a:noFill/>
          <a:ln/>
        </p:spPr>
        <p:txBody>
          <a:bodyPr wrap="square" lIns="0" tIns="0" rIns="0" bIns="0" rtlCol="0" anchor="ctr"/>
          <a:lstStyle/>
          <a:p>
            <a:pPr marL="0" indent="0">
              <a:buNone/>
            </a:pPr>
            <a:r>
              <a:rPr lang="th-TH" sz="2000" dirty="0"/>
              <a:t>สอบป้องกันโครงงาน</a:t>
            </a:r>
            <a:endParaRPr lang="en-US" sz="2000" dirty="0"/>
          </a:p>
        </p:txBody>
      </p:sp>
      <p:sp>
        <p:nvSpPr>
          <p:cNvPr id="25" name="Title 24">
            <a:extLst>
              <a:ext uri="{FF2B5EF4-FFF2-40B4-BE49-F238E27FC236}">
                <a16:creationId xmlns:a16="http://schemas.microsoft.com/office/drawing/2014/main" id="{687BD1DC-E472-9CEC-DC71-35E4B4A68C2E}"/>
              </a:ext>
            </a:extLst>
          </p:cNvPr>
          <p:cNvSpPr>
            <a:spLocks noGrp="1"/>
          </p:cNvSpPr>
          <p:nvPr>
            <p:ph type="title" idx="100"/>
          </p:nvPr>
        </p:nvSpPr>
        <p:spPr>
          <a:xfrm>
            <a:off x="713232" y="1965960"/>
            <a:ext cx="9279854" cy="2103120"/>
          </a:xfrm>
        </p:spPr>
        <p:txBody>
          <a:bodyPr/>
          <a:lstStyle/>
          <a:p>
            <a:r>
              <a:rPr lang="en-US" dirty="0">
                <a:solidFill>
                  <a:srgbClr val="44576E"/>
                </a:solidFill>
              </a:rPr>
              <a:t>การจำแนกช่องทางการขนส่งสินค้าส่งออกสัตว์น้ำด้วยเทคนิคเหมืองข้อมูล</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blobA"/>
          <p:cNvSpPr/>
          <p:nvPr/>
        </p:nvSpPr>
        <p:spPr>
          <a:xfrm>
            <a:off x="-1737360" y="3840480"/>
            <a:ext cx="3785616" cy="3785616"/>
          </a:xfrm>
          <a:prstGeom prst="ellipse">
            <a:avLst/>
          </a:prstGeom>
          <a:solidFill>
            <a:srgbClr val="0E7E99">
              <a:alpha val="16000"/>
            </a:srgbClr>
          </a:solidFill>
          <a:ln/>
        </p:spPr>
        <p:txBody>
          <a:bodyPr/>
          <a:lstStyle/>
          <a:p>
            <a:endParaRPr lang="en-US"/>
          </a:p>
        </p:txBody>
      </p:sp>
      <p:sp>
        <p:nvSpPr>
          <p:cNvPr id="6" name="blobB"/>
          <p:cNvSpPr/>
          <p:nvPr/>
        </p:nvSpPr>
        <p:spPr>
          <a:xfrm>
            <a:off x="-502920" y="5157216"/>
            <a:ext cx="2551176" cy="2551176"/>
          </a:xfrm>
          <a:prstGeom prst="ellipse">
            <a:avLst/>
          </a:prstGeom>
          <a:solidFill>
            <a:srgbClr val="123A6B">
              <a:alpha val="12000"/>
            </a:srgbClr>
          </a:solidFill>
          <a:ln/>
        </p:spPr>
        <p:txBody>
          <a:bodyPr/>
          <a:lstStyle/>
          <a:p>
            <a:endParaRPr lang="en-US"/>
          </a:p>
        </p:txBody>
      </p:sp>
      <p:sp>
        <p:nvSpPr>
          <p:cNvPr id="7" name="blobC"/>
          <p:cNvSpPr/>
          <p:nvPr/>
        </p:nvSpPr>
        <p:spPr>
          <a:xfrm rot="-1440000">
            <a:off x="-1161288" y="4251960"/>
            <a:ext cx="2139696" cy="2139696"/>
          </a:xfrm>
          <a:prstGeom prst="roundRect">
            <a:avLst>
              <a:gd name="adj" fmla="val 14957"/>
            </a:avLst>
          </a:prstGeom>
          <a:solidFill>
            <a:srgbClr val="0E9FBF">
              <a:alpha val="10000"/>
            </a:srgbClr>
          </a:solidFill>
          <a:ln/>
        </p:spPr>
        <p:txBody>
          <a:bodyPr/>
          <a:lstStyle/>
          <a:p>
            <a:endParaRPr lang="en-US"/>
          </a:p>
        </p:txBody>
      </p:sp>
      <p:sp>
        <p:nvSpPr>
          <p:cNvPr id="8" name="dot"/>
          <p:cNvSpPr/>
          <p:nvPr/>
        </p:nvSpPr>
        <p:spPr>
          <a:xfrm>
            <a:off x="11201400" y="932688"/>
            <a:ext cx="65837" cy="65837"/>
          </a:xfrm>
          <a:prstGeom prst="ellipse">
            <a:avLst/>
          </a:prstGeom>
          <a:solidFill>
            <a:srgbClr val="0E7E99">
              <a:alpha val="45000"/>
            </a:srgbClr>
          </a:solidFill>
          <a:ln/>
        </p:spPr>
        <p:txBody>
          <a:bodyPr/>
          <a:lstStyle/>
          <a:p>
            <a:endParaRPr lang="en-US"/>
          </a:p>
        </p:txBody>
      </p:sp>
      <p:sp>
        <p:nvSpPr>
          <p:cNvPr id="9" name="dot"/>
          <p:cNvSpPr/>
          <p:nvPr/>
        </p:nvSpPr>
        <p:spPr>
          <a:xfrm>
            <a:off x="11201400" y="1088136"/>
            <a:ext cx="65837" cy="65837"/>
          </a:xfrm>
          <a:prstGeom prst="ellipse">
            <a:avLst/>
          </a:prstGeom>
          <a:solidFill>
            <a:srgbClr val="0E7E99">
              <a:alpha val="45000"/>
            </a:srgbClr>
          </a:solidFill>
          <a:ln/>
        </p:spPr>
        <p:txBody>
          <a:bodyPr/>
          <a:lstStyle/>
          <a:p>
            <a:endParaRPr lang="en-US"/>
          </a:p>
        </p:txBody>
      </p:sp>
      <p:sp>
        <p:nvSpPr>
          <p:cNvPr id="10" name="dot"/>
          <p:cNvSpPr/>
          <p:nvPr/>
        </p:nvSpPr>
        <p:spPr>
          <a:xfrm>
            <a:off x="11201400" y="1243584"/>
            <a:ext cx="65837" cy="65837"/>
          </a:xfrm>
          <a:prstGeom prst="ellipse">
            <a:avLst/>
          </a:prstGeom>
          <a:solidFill>
            <a:srgbClr val="0E7E99">
              <a:alpha val="45000"/>
            </a:srgbClr>
          </a:solidFill>
          <a:ln/>
        </p:spPr>
        <p:txBody>
          <a:bodyPr/>
          <a:lstStyle/>
          <a:p>
            <a:endParaRPr lang="en-US"/>
          </a:p>
        </p:txBody>
      </p:sp>
      <p:sp>
        <p:nvSpPr>
          <p:cNvPr id="11" name="dot"/>
          <p:cNvSpPr/>
          <p:nvPr/>
        </p:nvSpPr>
        <p:spPr>
          <a:xfrm>
            <a:off x="11356848" y="932688"/>
            <a:ext cx="65837" cy="65837"/>
          </a:xfrm>
          <a:prstGeom prst="ellipse">
            <a:avLst/>
          </a:prstGeom>
          <a:solidFill>
            <a:srgbClr val="0E7E99">
              <a:alpha val="45000"/>
            </a:srgbClr>
          </a:solidFill>
          <a:ln/>
        </p:spPr>
        <p:txBody>
          <a:bodyPr/>
          <a:lstStyle/>
          <a:p>
            <a:endParaRPr lang="en-US"/>
          </a:p>
        </p:txBody>
      </p:sp>
      <p:sp>
        <p:nvSpPr>
          <p:cNvPr id="12" name="dot"/>
          <p:cNvSpPr/>
          <p:nvPr/>
        </p:nvSpPr>
        <p:spPr>
          <a:xfrm>
            <a:off x="11356848" y="1088136"/>
            <a:ext cx="65837" cy="65837"/>
          </a:xfrm>
          <a:prstGeom prst="ellipse">
            <a:avLst/>
          </a:prstGeom>
          <a:solidFill>
            <a:srgbClr val="0E7E99">
              <a:alpha val="45000"/>
            </a:srgbClr>
          </a:solidFill>
          <a:ln/>
        </p:spPr>
        <p:txBody>
          <a:bodyPr/>
          <a:lstStyle/>
          <a:p>
            <a:endParaRPr lang="en-US"/>
          </a:p>
        </p:txBody>
      </p:sp>
      <p:sp>
        <p:nvSpPr>
          <p:cNvPr id="13" name="dot"/>
          <p:cNvSpPr/>
          <p:nvPr/>
        </p:nvSpPr>
        <p:spPr>
          <a:xfrm>
            <a:off x="11356848" y="1243584"/>
            <a:ext cx="65837" cy="65837"/>
          </a:xfrm>
          <a:prstGeom prst="ellipse">
            <a:avLst/>
          </a:prstGeom>
          <a:solidFill>
            <a:srgbClr val="0E7E99">
              <a:alpha val="45000"/>
            </a:srgbClr>
          </a:solidFill>
          <a:ln/>
        </p:spPr>
        <p:txBody>
          <a:bodyPr/>
          <a:lstStyle/>
          <a:p>
            <a:endParaRPr lang="en-US"/>
          </a:p>
        </p:txBody>
      </p:sp>
      <p:sp>
        <p:nvSpPr>
          <p:cNvPr id="14" name="dot"/>
          <p:cNvSpPr/>
          <p:nvPr/>
        </p:nvSpPr>
        <p:spPr>
          <a:xfrm>
            <a:off x="11512296" y="932688"/>
            <a:ext cx="65837" cy="65837"/>
          </a:xfrm>
          <a:prstGeom prst="ellipse">
            <a:avLst/>
          </a:prstGeom>
          <a:solidFill>
            <a:srgbClr val="0E7E99">
              <a:alpha val="45000"/>
            </a:srgbClr>
          </a:solidFill>
          <a:ln/>
        </p:spPr>
        <p:txBody>
          <a:bodyPr/>
          <a:lstStyle/>
          <a:p>
            <a:endParaRPr lang="en-US"/>
          </a:p>
        </p:txBody>
      </p:sp>
      <p:sp>
        <p:nvSpPr>
          <p:cNvPr id="15" name="dot"/>
          <p:cNvSpPr/>
          <p:nvPr/>
        </p:nvSpPr>
        <p:spPr>
          <a:xfrm>
            <a:off x="11512296" y="1088136"/>
            <a:ext cx="65837" cy="65837"/>
          </a:xfrm>
          <a:prstGeom prst="ellipse">
            <a:avLst/>
          </a:prstGeom>
          <a:solidFill>
            <a:srgbClr val="0E7E99">
              <a:alpha val="45000"/>
            </a:srgbClr>
          </a:solidFill>
          <a:ln/>
        </p:spPr>
        <p:txBody>
          <a:bodyPr/>
          <a:lstStyle/>
          <a:p>
            <a:endParaRPr lang="en-US"/>
          </a:p>
        </p:txBody>
      </p:sp>
      <p:sp>
        <p:nvSpPr>
          <p:cNvPr id="16" name="dot"/>
          <p:cNvSpPr/>
          <p:nvPr/>
        </p:nvSpPr>
        <p:spPr>
          <a:xfrm>
            <a:off x="11512296" y="1243584"/>
            <a:ext cx="65837" cy="65837"/>
          </a:xfrm>
          <a:prstGeom prst="ellipse">
            <a:avLst/>
          </a:prstGeom>
          <a:solidFill>
            <a:srgbClr val="0E7E99">
              <a:alpha val="45000"/>
            </a:srgbClr>
          </a:solidFill>
          <a:ln/>
        </p:spPr>
        <p:txBody>
          <a:bodyPr/>
          <a:lstStyle/>
          <a:p>
            <a:endParaRPr lang="en-US"/>
          </a:p>
        </p:txBody>
      </p:sp>
      <p:sp>
        <p:nvSpPr>
          <p:cNvPr id="17"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a:solidFill>
                  <a:srgbClr val="123A6B"/>
                </a:solidFill>
              </a:rPr>
              <a:t>อาจารย์ที่ปรึกษา และผู้จัดทำ</a:t>
            </a:r>
            <a:endParaRPr lang="en-US" sz="3600" dirty="0"/>
          </a:p>
        </p:txBody>
      </p:sp>
      <p:sp>
        <p:nvSpPr>
          <p:cNvPr id="18" name="Text 16"/>
          <p:cNvSpPr txBox="1"/>
          <p:nvPr/>
        </p:nvSpPr>
        <p:spPr>
          <a:xfrm>
            <a:off x="713232" y="1591056"/>
            <a:ext cx="4948276" cy="320040"/>
          </a:xfrm>
          <a:prstGeom prst="rect">
            <a:avLst/>
          </a:prstGeom>
          <a:noFill/>
          <a:ln/>
        </p:spPr>
        <p:txBody>
          <a:bodyPr wrap="square" lIns="0" tIns="0" rIns="0" bIns="0" rtlCol="0" anchor="t"/>
          <a:lstStyle/>
          <a:p>
            <a:pPr marL="0" indent="0" algn="ctr">
              <a:buNone/>
            </a:pPr>
            <a:r>
              <a:rPr lang="en-US" sz="1700" b="1" dirty="0">
                <a:solidFill>
                  <a:srgbClr val="0E7E99"/>
                </a:solidFill>
              </a:rPr>
              <a:t>อาจารย์ที่ปรึกษา</a:t>
            </a:r>
            <a:endParaRPr lang="en-US" sz="1700" dirty="0"/>
          </a:p>
        </p:txBody>
      </p:sp>
      <p:pic>
        <p:nvPicPr>
          <p:cNvPr id="19" name="photo0" descr="/home/claude/fig/advisor.jpg"/>
          <p:cNvPicPr>
            <a:picLocks noChangeAspect="1"/>
          </p:cNvPicPr>
          <p:nvPr/>
        </p:nvPicPr>
        <p:blipFill>
          <a:blip r:embed="rId3"/>
          <a:stretch>
            <a:fillRect/>
          </a:stretch>
        </p:blipFill>
        <p:spPr>
          <a:xfrm>
            <a:off x="2044370" y="1993392"/>
            <a:ext cx="2286000" cy="2286000"/>
          </a:xfrm>
          <a:prstGeom prst="ellipse">
            <a:avLst/>
          </a:prstGeom>
        </p:spPr>
      </p:pic>
      <p:sp>
        <p:nvSpPr>
          <p:cNvPr id="20" name="pname0"/>
          <p:cNvSpPr txBox="1"/>
          <p:nvPr/>
        </p:nvSpPr>
        <p:spPr>
          <a:xfrm>
            <a:off x="713232" y="4517136"/>
            <a:ext cx="4948276" cy="457200"/>
          </a:xfrm>
          <a:prstGeom prst="rect">
            <a:avLst/>
          </a:prstGeom>
          <a:noFill/>
          <a:ln/>
        </p:spPr>
        <p:txBody>
          <a:bodyPr wrap="square" lIns="0" tIns="0" rIns="0" bIns="0" rtlCol="0" anchor="ctr"/>
          <a:lstStyle/>
          <a:p>
            <a:pPr marL="0" indent="0" algn="ctr">
              <a:buNone/>
            </a:pPr>
            <a:r>
              <a:rPr lang="en-US" sz="2600" b="1" dirty="0">
                <a:solidFill>
                  <a:srgbClr val="123A6B"/>
                </a:solidFill>
              </a:rPr>
              <a:t>ผศ.ดร. ชัชฎาพร ปุกแก้ว</a:t>
            </a:r>
            <a:endParaRPr lang="en-US" sz="2600" dirty="0"/>
          </a:p>
        </p:txBody>
      </p:sp>
      <p:sp>
        <p:nvSpPr>
          <p:cNvPr id="21" name="Text 18"/>
          <p:cNvSpPr txBox="1"/>
          <p:nvPr/>
        </p:nvSpPr>
        <p:spPr>
          <a:xfrm>
            <a:off x="713232" y="5029200"/>
            <a:ext cx="4948276" cy="365760"/>
          </a:xfrm>
          <a:prstGeom prst="rect">
            <a:avLst/>
          </a:prstGeom>
          <a:noFill/>
          <a:ln/>
        </p:spPr>
        <p:txBody>
          <a:bodyPr wrap="square" lIns="0" tIns="0" rIns="0" bIns="0" rtlCol="0" anchor="t"/>
          <a:lstStyle/>
          <a:p>
            <a:pPr marL="0" indent="0" algn="ctr">
              <a:lnSpc>
                <a:spcPct val="135000"/>
              </a:lnSpc>
              <a:buNone/>
            </a:pPr>
            <a:r>
              <a:rPr lang="en-US" sz="1700" dirty="0">
                <a:solidFill>
                  <a:srgbClr val="44576E"/>
                </a:solidFill>
              </a:rPr>
              <a:t>อาจารย์ที่ปรึกษาหลัก</a:t>
            </a:r>
            <a:endParaRPr lang="en-US" sz="1700" dirty="0"/>
          </a:p>
        </p:txBody>
      </p:sp>
      <p:sp>
        <p:nvSpPr>
          <p:cNvPr id="22" name="Text 19"/>
          <p:cNvSpPr txBox="1"/>
          <p:nvPr/>
        </p:nvSpPr>
        <p:spPr>
          <a:xfrm>
            <a:off x="713232" y="5413248"/>
            <a:ext cx="4948276" cy="365760"/>
          </a:xfrm>
          <a:prstGeom prst="rect">
            <a:avLst/>
          </a:prstGeom>
          <a:noFill/>
          <a:ln/>
        </p:spPr>
        <p:txBody>
          <a:bodyPr wrap="square" lIns="0" tIns="0" rIns="0" bIns="0" rtlCol="0" anchor="t"/>
          <a:lstStyle/>
          <a:p>
            <a:pPr marL="0" indent="0" algn="ctr">
              <a:lnSpc>
                <a:spcPct val="135000"/>
              </a:lnSpc>
              <a:buNone/>
            </a:pPr>
            <a:r>
              <a:rPr lang="en-US" sz="1700" dirty="0">
                <a:solidFill>
                  <a:srgbClr val="44576E"/>
                </a:solidFill>
              </a:rPr>
              <a:t>หลักสูตรระบบสารสนเทศทางธุรกิจ</a:t>
            </a:r>
            <a:endParaRPr lang="en-US" sz="1700" dirty="0"/>
          </a:p>
        </p:txBody>
      </p:sp>
      <p:sp>
        <p:nvSpPr>
          <p:cNvPr id="23" name="Text 20"/>
          <p:cNvSpPr txBox="1"/>
          <p:nvPr/>
        </p:nvSpPr>
        <p:spPr>
          <a:xfrm>
            <a:off x="6530188" y="1591056"/>
            <a:ext cx="4948276" cy="320040"/>
          </a:xfrm>
          <a:prstGeom prst="rect">
            <a:avLst/>
          </a:prstGeom>
          <a:noFill/>
          <a:ln/>
        </p:spPr>
        <p:txBody>
          <a:bodyPr wrap="square" lIns="0" tIns="0" rIns="0" bIns="0" rtlCol="0" anchor="t"/>
          <a:lstStyle/>
          <a:p>
            <a:pPr marL="0" indent="0" algn="ctr">
              <a:buNone/>
            </a:pPr>
            <a:r>
              <a:rPr lang="en-US" sz="1700" b="1" dirty="0">
                <a:solidFill>
                  <a:srgbClr val="0E7E99"/>
                </a:solidFill>
              </a:rPr>
              <a:t>ผู้จัดทำ</a:t>
            </a:r>
            <a:endParaRPr lang="en-US" sz="1700" dirty="0"/>
          </a:p>
        </p:txBody>
      </p:sp>
      <p:pic>
        <p:nvPicPr>
          <p:cNvPr id="24" name="photo1" descr="/home/claude/fig/student.jpg"/>
          <p:cNvPicPr>
            <a:picLocks noChangeAspect="1"/>
          </p:cNvPicPr>
          <p:nvPr/>
        </p:nvPicPr>
        <p:blipFill>
          <a:blip r:embed="rId4"/>
          <a:stretch>
            <a:fillRect/>
          </a:stretch>
        </p:blipFill>
        <p:spPr>
          <a:xfrm>
            <a:off x="7861325" y="1993392"/>
            <a:ext cx="2286000" cy="2286000"/>
          </a:xfrm>
          <a:prstGeom prst="ellipse">
            <a:avLst/>
          </a:prstGeom>
        </p:spPr>
      </p:pic>
      <p:sp>
        <p:nvSpPr>
          <p:cNvPr id="25" name="pname1"/>
          <p:cNvSpPr txBox="1"/>
          <p:nvPr/>
        </p:nvSpPr>
        <p:spPr>
          <a:xfrm>
            <a:off x="6530188" y="4517136"/>
            <a:ext cx="4948276" cy="457200"/>
          </a:xfrm>
          <a:prstGeom prst="rect">
            <a:avLst/>
          </a:prstGeom>
          <a:noFill/>
          <a:ln/>
        </p:spPr>
        <p:txBody>
          <a:bodyPr wrap="square" lIns="0" tIns="0" rIns="0" bIns="0" rtlCol="0" anchor="ctr"/>
          <a:lstStyle/>
          <a:p>
            <a:pPr marL="0" indent="0" algn="ctr">
              <a:buNone/>
            </a:pPr>
            <a:r>
              <a:rPr lang="en-US" sz="2600" b="1" dirty="0">
                <a:solidFill>
                  <a:srgbClr val="123A6B"/>
                </a:solidFill>
              </a:rPr>
              <a:t>ณัฐพงศ์ ไชยพูน</a:t>
            </a:r>
            <a:endParaRPr lang="en-US" sz="2600" dirty="0"/>
          </a:p>
        </p:txBody>
      </p:sp>
      <p:sp>
        <p:nvSpPr>
          <p:cNvPr id="26" name="Text 22"/>
          <p:cNvSpPr txBox="1"/>
          <p:nvPr/>
        </p:nvSpPr>
        <p:spPr>
          <a:xfrm>
            <a:off x="6530188" y="5029200"/>
            <a:ext cx="4948276" cy="365760"/>
          </a:xfrm>
          <a:prstGeom prst="rect">
            <a:avLst/>
          </a:prstGeom>
          <a:noFill/>
          <a:ln/>
        </p:spPr>
        <p:txBody>
          <a:bodyPr wrap="square" lIns="0" tIns="0" rIns="0" bIns="0" rtlCol="0" anchor="t"/>
          <a:lstStyle/>
          <a:p>
            <a:pPr marL="0" indent="0" algn="ctr">
              <a:lnSpc>
                <a:spcPct val="135000"/>
              </a:lnSpc>
              <a:buNone/>
            </a:pPr>
            <a:r>
              <a:rPr lang="en-US" sz="1700" dirty="0">
                <a:solidFill>
                  <a:srgbClr val="44576E"/>
                </a:solidFill>
              </a:rPr>
              <a:t>รหัสนักศึกษา 66541207056-7</a:t>
            </a:r>
            <a:endParaRPr lang="en-US" sz="1700" dirty="0"/>
          </a:p>
        </p:txBody>
      </p:sp>
      <p:sp>
        <p:nvSpPr>
          <p:cNvPr id="27" name="Text 23"/>
          <p:cNvSpPr txBox="1"/>
          <p:nvPr/>
        </p:nvSpPr>
        <p:spPr>
          <a:xfrm>
            <a:off x="6530188" y="5413248"/>
            <a:ext cx="4948276" cy="365760"/>
          </a:xfrm>
          <a:prstGeom prst="rect">
            <a:avLst/>
          </a:prstGeom>
          <a:noFill/>
          <a:ln/>
        </p:spPr>
        <p:txBody>
          <a:bodyPr wrap="square" lIns="0" tIns="0" rIns="0" bIns="0" rtlCol="0" anchor="t"/>
          <a:lstStyle/>
          <a:p>
            <a:pPr marL="0" indent="0" algn="ctr">
              <a:lnSpc>
                <a:spcPct val="135000"/>
              </a:lnSpc>
              <a:buNone/>
            </a:pPr>
            <a:r>
              <a:rPr lang="en-US" sz="1700" dirty="0">
                <a:solidFill>
                  <a:srgbClr val="44576E"/>
                </a:solidFill>
              </a:rPr>
              <a:t>หลักสูตรระบบสารสนเทศทางธุรกิจ · กลุ่มวิชาวิเคราะห์ข้อมูล</a:t>
            </a:r>
            <a:endParaRPr lang="en-US" sz="1700" dirty="0"/>
          </a:p>
        </p:txBody>
      </p:sp>
      <p:sp>
        <p:nvSpPr>
          <p:cNvPr id="29"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a:solidFill>
                  <a:srgbClr val="123A6B"/>
                </a:solidFill>
              </a:rPr>
              <a:t>ปรับปรุงเว็บไซต์ 4 ด้าน ในรอบนี้</a:t>
            </a:r>
            <a:endParaRPr lang="en-US" sz="3600" dirty="0"/>
          </a:p>
        </p:txBody>
      </p:sp>
      <p:sp>
        <p:nvSpPr>
          <p:cNvPr id="12" name="Text 10"/>
          <p:cNvSpPr txBox="1"/>
          <p:nvPr/>
        </p:nvSpPr>
        <p:spPr>
          <a:xfrm>
            <a:off x="713232" y="1627632"/>
            <a:ext cx="10765231" cy="411480"/>
          </a:xfrm>
          <a:prstGeom prst="rect">
            <a:avLst/>
          </a:prstGeom>
          <a:noFill/>
          <a:ln/>
        </p:spPr>
        <p:txBody>
          <a:bodyPr wrap="square" lIns="0" tIns="0" rIns="0" bIns="0" rtlCol="0" anchor="t"/>
          <a:lstStyle/>
          <a:p>
            <a:pPr marL="0" indent="0">
              <a:lnSpc>
                <a:spcPct val="135000"/>
              </a:lnSpc>
              <a:buNone/>
            </a:pPr>
            <a:r>
              <a:rPr lang="en-US" sz="2100" dirty="0">
                <a:solidFill>
                  <a:srgbClr val="44576E"/>
                </a:solidFill>
              </a:rPr>
              <a:t>ตัวแบบและชุดข้อมูลเหมือนเดิม ไม่ได้เทรนใหม่ รอบนี้แก้ที่การนำเสนอผลและการใช้งาน</a:t>
            </a:r>
            <a:endParaRPr lang="en-US" sz="2100" dirty="0"/>
          </a:p>
        </p:txBody>
      </p:sp>
      <p:sp>
        <p:nvSpPr>
          <p:cNvPr id="13" name="lr0"/>
          <p:cNvSpPr/>
          <p:nvPr/>
        </p:nvSpPr>
        <p:spPr>
          <a:xfrm>
            <a:off x="713232" y="2377440"/>
            <a:ext cx="10765231" cy="0"/>
          </a:xfrm>
          <a:prstGeom prst="line">
            <a:avLst/>
          </a:prstGeom>
          <a:noFill/>
          <a:ln w="12700">
            <a:solidFill>
              <a:srgbClr val="D5DEE6"/>
            </a:solidFill>
            <a:prstDash val="solid"/>
          </a:ln>
        </p:spPr>
        <p:txBody>
          <a:bodyPr/>
          <a:lstStyle/>
          <a:p>
            <a:endParaRPr lang="en-US"/>
          </a:p>
        </p:txBody>
      </p:sp>
      <p:sp>
        <p:nvSpPr>
          <p:cNvPr id="14" name="Text 12"/>
          <p:cNvSpPr txBox="1"/>
          <p:nvPr/>
        </p:nvSpPr>
        <p:spPr>
          <a:xfrm>
            <a:off x="713232" y="2670048"/>
            <a:ext cx="2286000" cy="365760"/>
          </a:xfrm>
          <a:prstGeom prst="rect">
            <a:avLst/>
          </a:prstGeom>
          <a:noFill/>
          <a:ln/>
        </p:spPr>
        <p:txBody>
          <a:bodyPr wrap="square" lIns="0" tIns="0" rIns="0" bIns="0" rtlCol="0" anchor="t"/>
          <a:lstStyle/>
          <a:p>
            <a:pPr marL="0" indent="0">
              <a:buNone/>
            </a:pPr>
            <a:r>
              <a:rPr lang="en-US" sz="2100" b="1" dirty="0">
                <a:solidFill>
                  <a:srgbClr val="0E7E99"/>
                </a:solidFill>
              </a:rPr>
              <a:t>ตัวแบบ</a:t>
            </a:r>
            <a:endParaRPr lang="en-US" sz="2100" dirty="0"/>
          </a:p>
        </p:txBody>
      </p:sp>
      <p:sp>
        <p:nvSpPr>
          <p:cNvPr id="15" name="Text 13"/>
          <p:cNvSpPr txBox="1"/>
          <p:nvPr/>
        </p:nvSpPr>
        <p:spPr>
          <a:xfrm>
            <a:off x="3456432" y="2633472"/>
            <a:ext cx="8022031" cy="420624"/>
          </a:xfrm>
          <a:prstGeom prst="rect">
            <a:avLst/>
          </a:prstGeom>
          <a:noFill/>
          <a:ln/>
        </p:spPr>
        <p:txBody>
          <a:bodyPr wrap="square" lIns="0" tIns="0" rIns="0" bIns="0" rtlCol="0" anchor="t"/>
          <a:lstStyle/>
          <a:p>
            <a:pPr marL="0" indent="0">
              <a:buNone/>
            </a:pPr>
            <a:r>
              <a:rPr lang="en-US" sz="2800" b="1" dirty="0">
                <a:solidFill>
                  <a:srgbClr val="123A6B"/>
                </a:solidFill>
              </a:rPr>
              <a:t>แก้เหตุผลการเลือกตัวแบบให้ตรงกับเล่ม</a:t>
            </a:r>
            <a:endParaRPr lang="en-US" sz="2800" dirty="0"/>
          </a:p>
        </p:txBody>
      </p:sp>
      <p:sp>
        <p:nvSpPr>
          <p:cNvPr id="16" name="lr1"/>
          <p:cNvSpPr/>
          <p:nvPr/>
        </p:nvSpPr>
        <p:spPr>
          <a:xfrm>
            <a:off x="713232" y="3319272"/>
            <a:ext cx="10765231" cy="0"/>
          </a:xfrm>
          <a:prstGeom prst="line">
            <a:avLst/>
          </a:prstGeom>
          <a:noFill/>
          <a:ln w="12700">
            <a:solidFill>
              <a:srgbClr val="D5DEE6"/>
            </a:solidFill>
            <a:prstDash val="solid"/>
          </a:ln>
        </p:spPr>
        <p:txBody>
          <a:bodyPr/>
          <a:lstStyle/>
          <a:p>
            <a:endParaRPr lang="en-US"/>
          </a:p>
        </p:txBody>
      </p:sp>
      <p:sp>
        <p:nvSpPr>
          <p:cNvPr id="17" name="Text 15"/>
          <p:cNvSpPr txBox="1"/>
          <p:nvPr/>
        </p:nvSpPr>
        <p:spPr>
          <a:xfrm>
            <a:off x="713232" y="3611880"/>
            <a:ext cx="2286000" cy="365760"/>
          </a:xfrm>
          <a:prstGeom prst="rect">
            <a:avLst/>
          </a:prstGeom>
          <a:noFill/>
          <a:ln/>
        </p:spPr>
        <p:txBody>
          <a:bodyPr wrap="square" lIns="0" tIns="0" rIns="0" bIns="0" rtlCol="0" anchor="t"/>
          <a:lstStyle/>
          <a:p>
            <a:pPr marL="0" indent="0">
              <a:buNone/>
            </a:pPr>
            <a:r>
              <a:rPr lang="en-US" sz="2100" b="1" dirty="0">
                <a:solidFill>
                  <a:srgbClr val="0E7E99"/>
                </a:solidFill>
              </a:rPr>
              <a:t>การใช้งาน</a:t>
            </a:r>
            <a:endParaRPr lang="en-US" sz="2100" dirty="0"/>
          </a:p>
        </p:txBody>
      </p:sp>
      <p:sp>
        <p:nvSpPr>
          <p:cNvPr id="18" name="Text 16"/>
          <p:cNvSpPr txBox="1"/>
          <p:nvPr/>
        </p:nvSpPr>
        <p:spPr>
          <a:xfrm>
            <a:off x="3456432" y="3575304"/>
            <a:ext cx="8022031" cy="420624"/>
          </a:xfrm>
          <a:prstGeom prst="rect">
            <a:avLst/>
          </a:prstGeom>
          <a:noFill/>
          <a:ln/>
        </p:spPr>
        <p:txBody>
          <a:bodyPr wrap="square" lIns="0" tIns="0" rIns="0" bIns="0" rtlCol="0" anchor="t"/>
          <a:lstStyle/>
          <a:p>
            <a:pPr marL="0" indent="0">
              <a:buNone/>
            </a:pPr>
            <a:r>
              <a:rPr lang="en-US" sz="2800" b="1" dirty="0">
                <a:solidFill>
                  <a:srgbClr val="123A6B"/>
                </a:solidFill>
              </a:rPr>
              <a:t>เพิ่มปฏิสัมพันธ์ครบ และรองรับทุกขนาดจอ</a:t>
            </a:r>
            <a:endParaRPr lang="en-US" sz="2800" dirty="0"/>
          </a:p>
        </p:txBody>
      </p:sp>
      <p:sp>
        <p:nvSpPr>
          <p:cNvPr id="19" name="lr2"/>
          <p:cNvSpPr/>
          <p:nvPr/>
        </p:nvSpPr>
        <p:spPr>
          <a:xfrm>
            <a:off x="713232" y="4261104"/>
            <a:ext cx="10765231" cy="0"/>
          </a:xfrm>
          <a:prstGeom prst="line">
            <a:avLst/>
          </a:prstGeom>
          <a:noFill/>
          <a:ln w="12700">
            <a:solidFill>
              <a:srgbClr val="D5DEE6"/>
            </a:solidFill>
            <a:prstDash val="solid"/>
          </a:ln>
        </p:spPr>
        <p:txBody>
          <a:bodyPr/>
          <a:lstStyle/>
          <a:p>
            <a:endParaRPr lang="en-US"/>
          </a:p>
        </p:txBody>
      </p:sp>
      <p:sp>
        <p:nvSpPr>
          <p:cNvPr id="20" name="Text 18"/>
          <p:cNvSpPr txBox="1"/>
          <p:nvPr/>
        </p:nvSpPr>
        <p:spPr>
          <a:xfrm>
            <a:off x="713232" y="4553712"/>
            <a:ext cx="2286000" cy="365760"/>
          </a:xfrm>
          <a:prstGeom prst="rect">
            <a:avLst/>
          </a:prstGeom>
          <a:noFill/>
          <a:ln/>
        </p:spPr>
        <p:txBody>
          <a:bodyPr wrap="square" lIns="0" tIns="0" rIns="0" bIns="0" rtlCol="0" anchor="t"/>
          <a:lstStyle/>
          <a:p>
            <a:pPr marL="0" indent="0">
              <a:buNone/>
            </a:pPr>
            <a:r>
              <a:rPr lang="en-US" sz="2100" b="1" dirty="0">
                <a:solidFill>
                  <a:srgbClr val="0E7E99"/>
                </a:solidFill>
              </a:rPr>
              <a:t>การทำนาย</a:t>
            </a:r>
            <a:endParaRPr lang="en-US" sz="2100" dirty="0"/>
          </a:p>
        </p:txBody>
      </p:sp>
      <p:sp>
        <p:nvSpPr>
          <p:cNvPr id="21" name="Text 19"/>
          <p:cNvSpPr txBox="1"/>
          <p:nvPr/>
        </p:nvSpPr>
        <p:spPr>
          <a:xfrm>
            <a:off x="3456432" y="4517136"/>
            <a:ext cx="8022031" cy="420624"/>
          </a:xfrm>
          <a:prstGeom prst="rect">
            <a:avLst/>
          </a:prstGeom>
          <a:noFill/>
          <a:ln/>
        </p:spPr>
        <p:txBody>
          <a:bodyPr wrap="square" lIns="0" tIns="0" rIns="0" bIns="0" rtlCol="0" anchor="t"/>
          <a:lstStyle/>
          <a:p>
            <a:pPr marL="0" indent="0">
              <a:buNone/>
            </a:pPr>
            <a:r>
              <a:rPr lang="en-US" sz="2800" b="1" dirty="0">
                <a:solidFill>
                  <a:srgbClr val="123A6B"/>
                </a:solidFill>
              </a:rPr>
              <a:t>ให้กรอกรายการใหม่ได้ และเห็นกฎจริง</a:t>
            </a:r>
            <a:endParaRPr lang="en-US" sz="2800" dirty="0"/>
          </a:p>
        </p:txBody>
      </p:sp>
      <p:sp>
        <p:nvSpPr>
          <p:cNvPr id="22" name="lr3"/>
          <p:cNvSpPr/>
          <p:nvPr/>
        </p:nvSpPr>
        <p:spPr>
          <a:xfrm>
            <a:off x="713232" y="5202936"/>
            <a:ext cx="10765231" cy="0"/>
          </a:xfrm>
          <a:prstGeom prst="line">
            <a:avLst/>
          </a:prstGeom>
          <a:noFill/>
          <a:ln w="12700">
            <a:solidFill>
              <a:srgbClr val="D5DEE6"/>
            </a:solidFill>
            <a:prstDash val="solid"/>
          </a:ln>
        </p:spPr>
        <p:txBody>
          <a:bodyPr/>
          <a:lstStyle/>
          <a:p>
            <a:endParaRPr lang="en-US"/>
          </a:p>
        </p:txBody>
      </p:sp>
      <p:sp>
        <p:nvSpPr>
          <p:cNvPr id="23" name="Text 21"/>
          <p:cNvSpPr txBox="1"/>
          <p:nvPr/>
        </p:nvSpPr>
        <p:spPr>
          <a:xfrm>
            <a:off x="713232" y="5495544"/>
            <a:ext cx="2286000" cy="365760"/>
          </a:xfrm>
          <a:prstGeom prst="rect">
            <a:avLst/>
          </a:prstGeom>
          <a:noFill/>
          <a:ln/>
        </p:spPr>
        <p:txBody>
          <a:bodyPr wrap="square" lIns="0" tIns="0" rIns="0" bIns="0" rtlCol="0" anchor="t"/>
          <a:lstStyle/>
          <a:p>
            <a:pPr marL="0" indent="0">
              <a:buNone/>
            </a:pPr>
            <a:r>
              <a:rPr lang="en-US" sz="2100" b="1" dirty="0">
                <a:solidFill>
                  <a:srgbClr val="0E7E99"/>
                </a:solidFill>
              </a:rPr>
              <a:t>การอธิบาย</a:t>
            </a:r>
            <a:endParaRPr lang="en-US" sz="2100" dirty="0"/>
          </a:p>
        </p:txBody>
      </p:sp>
      <p:sp>
        <p:nvSpPr>
          <p:cNvPr id="24" name="Text 22"/>
          <p:cNvSpPr txBox="1"/>
          <p:nvPr/>
        </p:nvSpPr>
        <p:spPr>
          <a:xfrm>
            <a:off x="3456432" y="5458968"/>
            <a:ext cx="8022031" cy="420624"/>
          </a:xfrm>
          <a:prstGeom prst="rect">
            <a:avLst/>
          </a:prstGeom>
          <a:noFill/>
          <a:ln/>
        </p:spPr>
        <p:txBody>
          <a:bodyPr wrap="square" lIns="0" tIns="0" rIns="0" bIns="0" rtlCol="0" anchor="t"/>
          <a:lstStyle/>
          <a:p>
            <a:pPr marL="0" indent="0">
              <a:buNone/>
            </a:pPr>
            <a:r>
              <a:rPr lang="en-US" sz="2800" b="1" dirty="0" err="1">
                <a:solidFill>
                  <a:srgbClr val="123A6B"/>
                </a:solidFill>
              </a:rPr>
              <a:t>ทำภาพต้นไม้ให้อ่านออก</a:t>
            </a:r>
            <a:r>
              <a:rPr lang="en-US" sz="2800" b="1" dirty="0">
                <a:solidFill>
                  <a:srgbClr val="123A6B"/>
                </a:solidFill>
              </a:rPr>
              <a:t> และตอบข้อสงสัยในเว็บ</a:t>
            </a:r>
            <a:endParaRPr lang="en-US" sz="2800" dirty="0"/>
          </a:p>
        </p:txBody>
      </p:sp>
      <p:sp>
        <p:nvSpPr>
          <p:cNvPr id="25" name="lrEnd"/>
          <p:cNvSpPr/>
          <p:nvPr/>
        </p:nvSpPr>
        <p:spPr>
          <a:xfrm>
            <a:off x="713232" y="6144768"/>
            <a:ext cx="10765231" cy="0"/>
          </a:xfrm>
          <a:prstGeom prst="line">
            <a:avLst/>
          </a:prstGeom>
          <a:noFill/>
          <a:ln w="12700">
            <a:solidFill>
              <a:srgbClr val="D5DEE6"/>
            </a:solidFill>
            <a:prstDash val="solid"/>
          </a:ln>
        </p:spPr>
        <p:txBody>
          <a:bodyPr/>
          <a:lstStyle/>
          <a:p>
            <a:endParaRPr lang="en-US"/>
          </a:p>
        </p:txBody>
      </p:sp>
      <p:sp>
        <p:nvSpPr>
          <p:cNvPr id="26"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err="1">
                <a:solidFill>
                  <a:srgbClr val="123A6B"/>
                </a:solidFill>
              </a:rPr>
              <a:t>แก้ข้อความเหตุผลการเลือ</a:t>
            </a:r>
            <a:r>
              <a:rPr lang="th-TH" sz="3600" b="1" dirty="0">
                <a:solidFill>
                  <a:srgbClr val="123A6B"/>
                </a:solidFill>
              </a:rPr>
              <a:t>กโมเดล</a:t>
            </a:r>
            <a:endParaRPr lang="en-US" sz="3600" dirty="0"/>
          </a:p>
        </p:txBody>
      </p:sp>
      <p:sp>
        <p:nvSpPr>
          <p:cNvPr id="12" name="Text 10"/>
          <p:cNvSpPr txBox="1"/>
          <p:nvPr/>
        </p:nvSpPr>
        <p:spPr>
          <a:xfrm>
            <a:off x="713232" y="1600200"/>
            <a:ext cx="10765231" cy="411480"/>
          </a:xfrm>
          <a:prstGeom prst="rect">
            <a:avLst/>
          </a:prstGeom>
          <a:noFill/>
          <a:ln/>
        </p:spPr>
        <p:txBody>
          <a:bodyPr wrap="square" lIns="0" tIns="0" rIns="0" bIns="0" rtlCol="0" anchor="t"/>
          <a:lstStyle/>
          <a:p>
            <a:pPr marL="0" indent="0">
              <a:lnSpc>
                <a:spcPct val="135000"/>
              </a:lnSpc>
              <a:buNone/>
            </a:pPr>
            <a:r>
              <a:rPr lang="en-US" sz="2100" dirty="0">
                <a:solidFill>
                  <a:srgbClr val="44576E"/>
                </a:solidFill>
              </a:rPr>
              <a:t>เดิมเขียนว่าเลือกเพราะได้ค่าสูงสุด แต่สามตัวแบบต่างกันไม่เกิน 0.15 จุด</a:t>
            </a:r>
            <a:endParaRPr lang="en-US" sz="2100" dirty="0"/>
          </a:p>
        </p:txBody>
      </p:sp>
      <p:sp>
        <p:nvSpPr>
          <p:cNvPr id="13" name="Text 11"/>
          <p:cNvSpPr txBox="1"/>
          <p:nvPr/>
        </p:nvSpPr>
        <p:spPr>
          <a:xfrm>
            <a:off x="713232" y="2176272"/>
            <a:ext cx="10765231" cy="320040"/>
          </a:xfrm>
          <a:prstGeom prst="rect">
            <a:avLst/>
          </a:prstGeom>
          <a:noFill/>
          <a:ln/>
        </p:spPr>
        <p:txBody>
          <a:bodyPr wrap="square" lIns="0" tIns="0" rIns="0" bIns="0" rtlCol="0" anchor="t"/>
          <a:lstStyle/>
          <a:p>
            <a:pPr marL="0" indent="0">
              <a:buNone/>
            </a:pPr>
            <a:r>
              <a:rPr lang="en-US" sz="1500" b="1" dirty="0">
                <a:solidFill>
                  <a:srgbClr val="44576E"/>
                </a:solidFill>
              </a:rPr>
              <a:t>Stratified 10-fold Cross Validation · ตัวชี้วัดเป็นเปอร์เซ็นต์ · เวลาเป็นวินาที</a:t>
            </a:r>
            <a:endParaRPr lang="en-US" sz="1500" dirty="0"/>
          </a:p>
        </p:txBody>
      </p:sp>
      <p:graphicFrame>
        <p:nvGraphicFramePr>
          <p:cNvPr id="14" name="cmpTable"/>
          <p:cNvGraphicFramePr>
            <a:graphicFrameLocks noGrp="1"/>
          </p:cNvGraphicFramePr>
          <p:nvPr>
            <p:extLst>
              <p:ext uri="{D42A27DB-BD31-4B8C-83A1-F6EECF244321}">
                <p14:modId xmlns:p14="http://schemas.microsoft.com/office/powerpoint/2010/main" val="1579011935"/>
              </p:ext>
            </p:extLst>
          </p:nvPr>
        </p:nvGraphicFramePr>
        <p:xfrm>
          <a:off x="713232" y="2542032"/>
          <a:ext cx="10552176" cy="2267712"/>
        </p:xfrm>
        <a:graphic>
          <a:graphicData uri="http://schemas.openxmlformats.org/drawingml/2006/table">
            <a:tbl>
              <a:tblPr/>
              <a:tblGrid>
                <a:gridCol w="3520440">
                  <a:extLst>
                    <a:ext uri="{9D8B030D-6E8A-4147-A177-3AD203B41FA5}">
                      <a16:colId xmlns:a16="http://schemas.microsoft.com/office/drawing/2014/main" val="20000"/>
                    </a:ext>
                  </a:extLst>
                </a:gridCol>
                <a:gridCol w="1444752">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gridCol w="1444752">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566928">
                <a:tc>
                  <a:txBody>
                    <a:bodyPr/>
                    <a:lstStyle/>
                    <a:p>
                      <a:pPr marL="0" indent="0" algn="l">
                        <a:buNone/>
                      </a:pPr>
                      <a:r>
                        <a:rPr lang="en-US" sz="1600" b="1" dirty="0">
                          <a:solidFill>
                            <a:srgbClr val="123A6B"/>
                          </a:solidFill>
                        </a:rPr>
                        <a:t>ตัวแบบ</a:t>
                      </a:r>
                      <a:endParaRPr lang="en-US" sz="1600" dirty="0"/>
                    </a:p>
                  </a:txBody>
                  <a:tcPr marL="0" marR="109728"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r">
                        <a:buNone/>
                      </a:pPr>
                      <a:r>
                        <a:rPr lang="en-US" sz="1600" b="1" dirty="0">
                          <a:solidFill>
                            <a:srgbClr val="123A6B"/>
                          </a:solidFill>
                        </a:rPr>
                        <a:t>Accuracy</a:t>
                      </a:r>
                      <a:endParaRPr lang="en-US" sz="1600" dirty="0"/>
                    </a:p>
                  </a:txBody>
                  <a:tcPr marL="0" marR="109728"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r">
                        <a:buNone/>
                      </a:pPr>
                      <a:r>
                        <a:rPr lang="en-US" sz="1600" b="1" dirty="0">
                          <a:solidFill>
                            <a:srgbClr val="123A6B"/>
                          </a:solidFill>
                        </a:rPr>
                        <a:t>Precision</a:t>
                      </a:r>
                      <a:endParaRPr lang="en-US" sz="1600" dirty="0"/>
                    </a:p>
                  </a:txBody>
                  <a:tcPr marL="0" marR="109728"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r">
                        <a:buNone/>
                      </a:pPr>
                      <a:r>
                        <a:rPr lang="en-US" sz="1600" b="1" dirty="0">
                          <a:solidFill>
                            <a:srgbClr val="123A6B"/>
                          </a:solidFill>
                        </a:rPr>
                        <a:t>Recall</a:t>
                      </a:r>
                      <a:endParaRPr lang="en-US" sz="1600" dirty="0"/>
                    </a:p>
                  </a:txBody>
                  <a:tcPr marL="0" marR="109728"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r">
                        <a:buNone/>
                      </a:pPr>
                      <a:r>
                        <a:rPr lang="en-US" sz="1600" b="1" dirty="0">
                          <a:solidFill>
                            <a:srgbClr val="123A6B"/>
                          </a:solidFill>
                        </a:rPr>
                        <a:t>F1-score</a:t>
                      </a:r>
                      <a:endParaRPr lang="en-US" sz="1600" dirty="0"/>
                    </a:p>
                  </a:txBody>
                  <a:tcPr marL="0" marR="109728"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r">
                        <a:buNone/>
                      </a:pPr>
                      <a:r>
                        <a:rPr lang="en-US" sz="1600" b="1" dirty="0">
                          <a:solidFill>
                            <a:srgbClr val="123A6B"/>
                          </a:solidFill>
                        </a:rPr>
                        <a:t>เวลาเทรน</a:t>
                      </a:r>
                      <a:endParaRPr lang="en-US" sz="1600" dirty="0"/>
                    </a:p>
                  </a:txBody>
                  <a:tcPr marL="0" marR="109728"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lgn="l">
                        <a:buNone/>
                      </a:pPr>
                      <a:r>
                        <a:rPr lang="en-US" sz="1800" b="1" dirty="0">
                          <a:solidFill>
                            <a:srgbClr val="0E7E99"/>
                          </a:solidFill>
                        </a:rPr>
                        <a:t>Decision Tree</a:t>
                      </a:r>
                      <a:endParaRPr lang="en-US" sz="1800" dirty="0"/>
                    </a:p>
                  </a:txBody>
                  <a:tcPr marL="0" marR="109728"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b="1" dirty="0">
                          <a:solidFill>
                            <a:srgbClr val="0E7E99"/>
                          </a:solidFill>
                        </a:rPr>
                        <a:t>99.28</a:t>
                      </a:r>
                      <a:endParaRPr lang="en-US" sz="1800" dirty="0"/>
                    </a:p>
                  </a:txBody>
                  <a:tcPr marL="0" marR="109728"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b="1" dirty="0">
                          <a:solidFill>
                            <a:srgbClr val="0E7E99"/>
                          </a:solidFill>
                        </a:rPr>
                        <a:t>99.17</a:t>
                      </a:r>
                      <a:endParaRPr lang="en-US" sz="1800" dirty="0"/>
                    </a:p>
                  </a:txBody>
                  <a:tcPr marL="0" marR="109728"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b="1" dirty="0">
                          <a:solidFill>
                            <a:srgbClr val="0E7E99"/>
                          </a:solidFill>
                        </a:rPr>
                        <a:t>99.16</a:t>
                      </a:r>
                      <a:endParaRPr lang="en-US" sz="1800" dirty="0"/>
                    </a:p>
                  </a:txBody>
                  <a:tcPr marL="0" marR="109728"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b="1" dirty="0">
                          <a:solidFill>
                            <a:srgbClr val="0E7E99"/>
                          </a:solidFill>
                        </a:rPr>
                        <a:t>99.17</a:t>
                      </a:r>
                      <a:endParaRPr lang="en-US" sz="1800" dirty="0"/>
                    </a:p>
                  </a:txBody>
                  <a:tcPr marL="0" marR="109728"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b="1" dirty="0">
                          <a:solidFill>
                            <a:srgbClr val="0E7E99"/>
                          </a:solidFill>
                        </a:rPr>
                        <a:t>102</a:t>
                      </a:r>
                      <a:endParaRPr lang="en-US" sz="1800" dirty="0"/>
                    </a:p>
                  </a:txBody>
                  <a:tcPr marL="0" marR="109728"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l">
                        <a:buNone/>
                      </a:pPr>
                      <a:r>
                        <a:rPr lang="en-US" sz="1800" dirty="0">
                          <a:solidFill>
                            <a:srgbClr val="123A6B"/>
                          </a:solidFill>
                        </a:rPr>
                        <a:t>Random Forest</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99.27</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99.15</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99.14</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99.15</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1,247</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l">
                        <a:buNone/>
                      </a:pPr>
                      <a:r>
                        <a:rPr lang="en-US" sz="1800" dirty="0">
                          <a:solidFill>
                            <a:srgbClr val="123A6B"/>
                          </a:solidFill>
                        </a:rPr>
                        <a:t>Gradient Boosted Trees</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99.13</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99.01</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98.96</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98.98</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tc>
                  <a:txBody>
                    <a:bodyPr/>
                    <a:lstStyle/>
                    <a:p>
                      <a:pPr marL="0" indent="0" algn="r">
                        <a:buNone/>
                      </a:pPr>
                      <a:r>
                        <a:rPr lang="en-US" sz="1800" dirty="0">
                          <a:solidFill>
                            <a:srgbClr val="123A6B"/>
                          </a:solidFill>
                        </a:rPr>
                        <a:t>376</a:t>
                      </a:r>
                      <a:endParaRPr lang="en-US" sz="1800" dirty="0"/>
                    </a:p>
                  </a:txBody>
                  <a:tcPr marL="0" marR="109728" marT="82296" marB="82296" anchor="ctr">
                    <a:lnL w="0" cap="flat" cmpd="sng" algn="ctr">
                      <a:noFill/>
                    </a:lnL>
                    <a:lnR w="0" cap="flat" cmpd="sng" algn="ctr">
                      <a:noFill/>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5" name="r3"/>
          <p:cNvSpPr/>
          <p:nvPr/>
        </p:nvSpPr>
        <p:spPr>
          <a:xfrm>
            <a:off x="713232" y="4937760"/>
            <a:ext cx="10765231" cy="0"/>
          </a:xfrm>
          <a:prstGeom prst="line">
            <a:avLst/>
          </a:prstGeom>
          <a:noFill/>
          <a:ln w="12700">
            <a:solidFill>
              <a:srgbClr val="D5DEE6"/>
            </a:solidFill>
            <a:prstDash val="solid"/>
          </a:ln>
        </p:spPr>
        <p:txBody>
          <a:bodyPr/>
          <a:lstStyle/>
          <a:p>
            <a:endParaRPr lang="en-US"/>
          </a:p>
        </p:txBody>
      </p:sp>
      <p:sp>
        <p:nvSpPr>
          <p:cNvPr id="18" name="Text 15"/>
          <p:cNvSpPr txBox="1"/>
          <p:nvPr/>
        </p:nvSpPr>
        <p:spPr>
          <a:xfrm>
            <a:off x="6530188" y="5193792"/>
            <a:ext cx="4948276" cy="365760"/>
          </a:xfrm>
          <a:prstGeom prst="rect">
            <a:avLst/>
          </a:prstGeom>
          <a:noFill/>
          <a:ln/>
        </p:spPr>
        <p:txBody>
          <a:bodyPr wrap="square" lIns="0" tIns="0" rIns="0" bIns="0" rtlCol="0" anchor="t"/>
          <a:lstStyle/>
          <a:p>
            <a:pPr marL="0" indent="0">
              <a:buNone/>
            </a:pPr>
            <a:r>
              <a:rPr lang="en-US" sz="2400" b="1" dirty="0">
                <a:solidFill>
                  <a:srgbClr val="0E7E99"/>
                </a:solidFill>
              </a:rPr>
              <a:t>เร็วที่สุด</a:t>
            </a:r>
            <a:endParaRPr lang="en-US" sz="2400" dirty="0"/>
          </a:p>
        </p:txBody>
      </p:sp>
      <p:sp>
        <p:nvSpPr>
          <p:cNvPr id="19" name="Text 16"/>
          <p:cNvSpPr txBox="1"/>
          <p:nvPr/>
        </p:nvSpPr>
        <p:spPr>
          <a:xfrm>
            <a:off x="6530188" y="5650992"/>
            <a:ext cx="4948276" cy="45720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เทรน 102 วินาที น้อยกว่า Random Forest 12 เท่า</a:t>
            </a:r>
            <a:endParaRPr lang="en-US" sz="1900" dirty="0"/>
          </a:p>
        </p:txBody>
      </p:sp>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err="1">
                <a:solidFill>
                  <a:srgbClr val="123A6B"/>
                </a:solidFill>
              </a:rPr>
              <a:t>รันตัวแบบซ้ำด้วย</a:t>
            </a:r>
            <a:r>
              <a:rPr lang="en-US" sz="3600" b="1" dirty="0">
                <a:solidFill>
                  <a:srgbClr val="123A6B"/>
                </a:solidFill>
              </a:rPr>
              <a:t> Python</a:t>
            </a:r>
            <a:endParaRPr lang="en-US" sz="3600" dirty="0"/>
          </a:p>
        </p:txBody>
      </p:sp>
      <p:sp>
        <p:nvSpPr>
          <p:cNvPr id="12" name="Text 10"/>
          <p:cNvSpPr txBox="1"/>
          <p:nvPr/>
        </p:nvSpPr>
        <p:spPr>
          <a:xfrm>
            <a:off x="713232" y="1627632"/>
            <a:ext cx="10765231" cy="548640"/>
          </a:xfrm>
          <a:prstGeom prst="rect">
            <a:avLst/>
          </a:prstGeom>
          <a:noFill/>
          <a:ln/>
        </p:spPr>
        <p:txBody>
          <a:bodyPr wrap="square" lIns="0" tIns="0" rIns="0" bIns="0" rtlCol="0" anchor="t"/>
          <a:lstStyle/>
          <a:p>
            <a:pPr marL="0" indent="0">
              <a:lnSpc>
                <a:spcPct val="135000"/>
              </a:lnSpc>
              <a:buNone/>
            </a:pPr>
            <a:r>
              <a:rPr lang="en-US" sz="1900" dirty="0" err="1">
                <a:solidFill>
                  <a:srgbClr val="44576E"/>
                </a:solidFill>
              </a:rPr>
              <a:t>ใช้สคริปต์ที่</a:t>
            </a:r>
            <a:r>
              <a:rPr lang="th-TH" sz="1900" dirty="0">
                <a:solidFill>
                  <a:srgbClr val="44576E"/>
                </a:solidFill>
              </a:rPr>
              <a:t>เขียนเอง</a:t>
            </a:r>
            <a:r>
              <a:rPr lang="en-US" sz="1900" dirty="0">
                <a:solidFill>
                  <a:srgbClr val="44576E"/>
                </a:solidFill>
              </a:rPr>
              <a:t> </a:t>
            </a:r>
            <a:r>
              <a:rPr lang="en-US" sz="1900" dirty="0" err="1">
                <a:solidFill>
                  <a:srgbClr val="44576E"/>
                </a:solidFill>
              </a:rPr>
              <a:t>ทำซ้ำทุกขั้นด้วย</a:t>
            </a:r>
            <a:r>
              <a:rPr lang="en-US" sz="1900" dirty="0">
                <a:solidFill>
                  <a:srgbClr val="44576E"/>
                </a:solidFill>
              </a:rPr>
              <a:t> pandas และ scikit-learn ตั้งแต่อ่านไฟล์ Excel 5 ปี จนถึงวัดผลทั้งสามตัวแบบ ด้านล่างคือผลที่โปรแกรมพิมพ์ออกมาตอนรันจริง พร้อมเวลาเทรนของแต่ละตัวแบบ</a:t>
            </a:r>
            <a:endParaRPr lang="en-US" sz="1900" dirty="0"/>
          </a:p>
        </p:txBody>
      </p:sp>
      <p:pic>
        <p:nvPicPr>
          <p:cNvPr id="13" name="Image 0" descr="/home/claude/fig/model-run-output.png"/>
          <p:cNvPicPr>
            <a:picLocks noChangeAspect="1"/>
          </p:cNvPicPr>
          <p:nvPr/>
        </p:nvPicPr>
        <p:blipFill>
          <a:blip r:embed="rId3"/>
          <a:stretch>
            <a:fillRect/>
          </a:stretch>
        </p:blipFill>
        <p:spPr>
          <a:xfrm>
            <a:off x="713232" y="2560320"/>
            <a:ext cx="10765231" cy="3571646"/>
          </a:xfrm>
          <a:prstGeom prst="rect">
            <a:avLst/>
          </a:prstGeom>
        </p:spPr>
      </p:pic>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err="1">
                <a:solidFill>
                  <a:srgbClr val="123A6B"/>
                </a:solidFill>
              </a:rPr>
              <a:t>เพิ่มปฏิสัมพันธ์ครบทั้งห้าอย่าง</a:t>
            </a:r>
            <a:endParaRPr lang="en-US" sz="3600" dirty="0"/>
          </a:p>
        </p:txBody>
      </p:sp>
      <p:graphicFrame>
        <p:nvGraphicFramePr>
          <p:cNvPr id="12" name="interTable"/>
          <p:cNvGraphicFramePr>
            <a:graphicFrameLocks noGrp="1"/>
          </p:cNvGraphicFramePr>
          <p:nvPr>
            <p:extLst>
              <p:ext uri="{D42A27DB-BD31-4B8C-83A1-F6EECF244321}">
                <p14:modId xmlns:p14="http://schemas.microsoft.com/office/powerpoint/2010/main" val="1579011935"/>
              </p:ext>
            </p:extLst>
          </p:nvPr>
        </p:nvGraphicFramePr>
        <p:xfrm>
          <a:off x="713232" y="1783080"/>
          <a:ext cx="10762488" cy="3621024"/>
        </p:xfrm>
        <a:graphic>
          <a:graphicData uri="http://schemas.openxmlformats.org/drawingml/2006/table">
            <a:tbl>
              <a:tblPr/>
              <a:tblGrid>
                <a:gridCol w="22860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184648">
                  <a:extLst>
                    <a:ext uri="{9D8B030D-6E8A-4147-A177-3AD203B41FA5}">
                      <a16:colId xmlns:a16="http://schemas.microsoft.com/office/drawing/2014/main" val="20002"/>
                    </a:ext>
                  </a:extLst>
                </a:gridCol>
              </a:tblGrid>
              <a:tr h="603504">
                <a:tc>
                  <a:txBody>
                    <a:bodyPr/>
                    <a:lstStyle/>
                    <a:p>
                      <a:pPr marL="0" indent="0" algn="l">
                        <a:buNone/>
                      </a:pPr>
                      <a:endParaRPr lang="en-US" sz="1600" dirty="0"/>
                    </a:p>
                  </a:txBody>
                  <a:tcPr marL="0" marR="128016"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l">
                        <a:buNone/>
                      </a:pPr>
                      <a:r>
                        <a:rPr lang="en-US" sz="1600" b="1" dirty="0">
                          <a:solidFill>
                            <a:srgbClr val="123A6B"/>
                          </a:solidFill>
                        </a:rPr>
                        <a:t>อยู่ตรงไหน</a:t>
                      </a:r>
                      <a:endParaRPr lang="en-US" sz="1600" dirty="0"/>
                    </a:p>
                  </a:txBody>
                  <a:tcPr marL="0" marR="128016"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tc>
                  <a:txBody>
                    <a:bodyPr/>
                    <a:lstStyle/>
                    <a:p>
                      <a:pPr marL="0" indent="0" algn="l">
                        <a:buNone/>
                      </a:pPr>
                      <a:r>
                        <a:rPr lang="en-US" sz="1600" b="1" dirty="0">
                          <a:solidFill>
                            <a:srgbClr val="123A6B"/>
                          </a:solidFill>
                        </a:rPr>
                        <a:t>ทำอะไรได้</a:t>
                      </a:r>
                      <a:endParaRPr lang="en-US" sz="1600" dirty="0"/>
                    </a:p>
                  </a:txBody>
                  <a:tcPr marL="0" marR="128016" marT="82296" marB="82296" anchor="ctr">
                    <a:lnL w="0" cap="flat" cmpd="sng" algn="ctr">
                      <a:noFill/>
                    </a:lnL>
                    <a:lnR w="0" cap="flat" cmpd="sng" algn="ctr">
                      <a:noFill/>
                    </a:lnR>
                    <a:lnT w="0" cap="flat" cmpd="sng" algn="ctr">
                      <a:noFill/>
                    </a:lnT>
                    <a:lnB w="19050" cap="flat" cmpd="sng" algn="ctr">
                      <a:solidFill>
                        <a:srgbClr val="123A6B"/>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lgn="l">
                        <a:buNone/>
                      </a:pPr>
                      <a:r>
                        <a:rPr lang="en-US" sz="1800" b="1" dirty="0">
                          <a:solidFill>
                            <a:srgbClr val="123A6B"/>
                          </a:solidFill>
                        </a:rPr>
                        <a:t>Filter</a:t>
                      </a:r>
                      <a:endParaRPr lang="en-US" sz="1800" dirty="0"/>
                    </a:p>
                  </a:txBody>
                  <a:tcPr marL="0" marR="128016"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แดชบอร์ด ภาพรวม</a:t>
                      </a:r>
                      <a:endParaRPr lang="en-US" sz="1800" dirty="0"/>
                    </a:p>
                  </a:txBody>
                  <a:tcPr marL="0" marR="128016"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ดรอปดาวน์ 3 ตัว และคลิกที่กราฟเพื่อกรอง</a:t>
                      </a:r>
                      <a:endParaRPr lang="en-US" sz="1800" dirty="0"/>
                    </a:p>
                  </a:txBody>
                  <a:tcPr marL="0" marR="128016" marT="82296" marB="82296" anchor="ctr">
                    <a:lnL w="0" cap="flat" cmpd="sng" algn="ctr">
                      <a:noFill/>
                    </a:lnL>
                    <a:lnR w="0" cap="flat" cmpd="sng" algn="ctr">
                      <a:noFill/>
                    </a:lnR>
                    <a:lnT w="19050" cap="flat" cmpd="sng" algn="ctr">
                      <a:solidFill>
                        <a:srgbClr val="123A6B"/>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lgn="l">
                        <a:buNone/>
                      </a:pPr>
                      <a:r>
                        <a:rPr lang="en-US" sz="1800" b="1" dirty="0">
                          <a:solidFill>
                            <a:srgbClr val="123A6B"/>
                          </a:solidFill>
                        </a:rPr>
                        <a:t>Tooltip</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ทุกกราฟ</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ชี้แล้วขึ้นกล่อง หรือแตะค้างไว้ใต้กราฟ</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lgn="l">
                        <a:buNone/>
                      </a:pPr>
                      <a:r>
                        <a:rPr lang="en-US" sz="1800" b="1" dirty="0">
                          <a:solidFill>
                            <a:srgbClr val="123A6B"/>
                          </a:solidFill>
                        </a:rPr>
                        <a:t>Zoom</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กราฟแนวโน้ม 60 เดือน</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ลากคลุมเพื่อซูมช่วงเวลา</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lgn="l">
                        <a:buNone/>
                      </a:pPr>
                      <a:r>
                        <a:rPr lang="en-US" sz="1800" b="1" dirty="0">
                          <a:solidFill>
                            <a:srgbClr val="123A6B"/>
                          </a:solidFill>
                        </a:rPr>
                        <a:t>Drilldown</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เจาะลึกข้อมูล</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กดที่กลุ่มสัตว์น้ำ แล้วลงไปดูชนิดในกลุ่ม</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lgn="l">
                        <a:buNone/>
                      </a:pPr>
                      <a:r>
                        <a:rPr lang="en-US" sz="1800" b="1" dirty="0">
                          <a:solidFill>
                            <a:srgbClr val="123A6B"/>
                          </a:solidFill>
                        </a:rPr>
                        <a:t>Transition</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ทั้งเว็บ</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tc>
                  <a:txBody>
                    <a:bodyPr/>
                    <a:lstStyle/>
                    <a:p>
                      <a:pPr marL="0" indent="0" algn="l">
                        <a:buNone/>
                      </a:pPr>
                      <a:r>
                        <a:rPr lang="en-US" sz="1800" dirty="0">
                          <a:solidFill>
                            <a:srgbClr val="44576E"/>
                          </a:solidFill>
                        </a:rPr>
                        <a:t>เปลี่ยนหน้าจางเข้า แท่งยืดจากฐาน</a:t>
                      </a:r>
                      <a:endParaRPr lang="en-US" sz="1800" dirty="0"/>
                    </a:p>
                  </a:txBody>
                  <a:tcPr marL="0" marR="128016" marT="82296" marB="82296" anchor="ctr">
                    <a:lnL w="0" cap="flat" cmpd="sng" algn="ctr">
                      <a:noFill/>
                    </a:lnL>
                    <a:lnR w="0" cap="flat" cmpd="sng" algn="ctr">
                      <a:noFill/>
                    </a:lnR>
                    <a:lnT w="9525" cap="flat" cmpd="sng" algn="ctr">
                      <a:solidFill>
                        <a:srgbClr val="BFD5E2"/>
                      </a:solidFill>
                      <a:prstDash val="solid"/>
                      <a:round/>
                      <a:headEnd type="none" w="med" len="med"/>
                      <a:tailEnd type="none" w="med" len="med"/>
                    </a:lnT>
                    <a:lnB w="9525" cap="flat" cmpd="sng" algn="ctr">
                      <a:solidFill>
                        <a:srgbClr val="BFD5E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a:solidFill>
                  <a:srgbClr val="123A6B"/>
                </a:solidFill>
              </a:rPr>
              <a:t>ตรวจการแสดงผลครบ 10 หน้า 9 ความกว้าง 2 โหมดสี</a:t>
            </a:r>
            <a:endParaRPr lang="en-US" sz="3600" dirty="0"/>
          </a:p>
        </p:txBody>
      </p:sp>
      <p:sp>
        <p:nvSpPr>
          <p:cNvPr id="12" name="Text 10"/>
          <p:cNvSpPr txBox="1"/>
          <p:nvPr/>
        </p:nvSpPr>
        <p:spPr>
          <a:xfrm>
            <a:off x="713232" y="1627632"/>
            <a:ext cx="10765231" cy="457200"/>
          </a:xfrm>
          <a:prstGeom prst="rect">
            <a:avLst/>
          </a:prstGeom>
          <a:noFill/>
          <a:ln/>
        </p:spPr>
        <p:txBody>
          <a:bodyPr wrap="square" lIns="0" tIns="0" rIns="0" bIns="0" rtlCol="0" anchor="t"/>
          <a:lstStyle/>
          <a:p>
            <a:pPr marL="0" indent="0">
              <a:lnSpc>
                <a:spcPct val="135000"/>
              </a:lnSpc>
              <a:buNone/>
            </a:pPr>
            <a:r>
              <a:rPr lang="en-US" sz="2100" dirty="0">
                <a:solidFill>
                  <a:srgbClr val="44576E"/>
                </a:solidFill>
              </a:rPr>
              <a:t>ใช้สคริปต์เปิดทุกหน้าที่ความกว้าง 320 ถึง 1600 พิกเซล ผลคือไม่มีหน้าใดล้นจอ และไม่มีข้อผิดพลาดของสคริปต์</a:t>
            </a:r>
            <a:endParaRPr lang="en-US" sz="2100" dirty="0"/>
          </a:p>
        </p:txBody>
      </p:sp>
      <p:sp>
        <p:nvSpPr>
          <p:cNvPr id="13" name="bpTop"/>
          <p:cNvSpPr/>
          <p:nvPr/>
        </p:nvSpPr>
        <p:spPr>
          <a:xfrm>
            <a:off x="713232" y="2450592"/>
            <a:ext cx="10765231" cy="0"/>
          </a:xfrm>
          <a:prstGeom prst="line">
            <a:avLst/>
          </a:prstGeom>
          <a:noFill/>
          <a:ln w="12700">
            <a:solidFill>
              <a:srgbClr val="123A6B"/>
            </a:solidFill>
            <a:prstDash val="solid"/>
          </a:ln>
        </p:spPr>
        <p:txBody>
          <a:bodyPr/>
          <a:lstStyle/>
          <a:p>
            <a:endParaRPr lang="en-US"/>
          </a:p>
        </p:txBody>
      </p:sp>
      <p:sp>
        <p:nvSpPr>
          <p:cNvPr id="14" name="bp0"/>
          <p:cNvSpPr txBox="1"/>
          <p:nvPr/>
        </p:nvSpPr>
        <p:spPr>
          <a:xfrm>
            <a:off x="713232" y="2724912"/>
            <a:ext cx="2451278" cy="457200"/>
          </a:xfrm>
          <a:prstGeom prst="rect">
            <a:avLst/>
          </a:prstGeom>
          <a:noFill/>
          <a:ln/>
        </p:spPr>
        <p:txBody>
          <a:bodyPr wrap="square" lIns="0" tIns="0" rIns="0" bIns="0" rtlCol="0" anchor="ctr"/>
          <a:lstStyle/>
          <a:p>
            <a:pPr marL="0" indent="0">
              <a:buNone/>
            </a:pPr>
            <a:r>
              <a:rPr lang="en-US" sz="3000" b="1" dirty="0">
                <a:solidFill>
                  <a:srgbClr val="123A6B"/>
                </a:solidFill>
              </a:rPr>
              <a:t>1180px</a:t>
            </a:r>
            <a:endParaRPr lang="en-US" sz="3000" dirty="0"/>
          </a:p>
        </p:txBody>
      </p:sp>
      <p:sp>
        <p:nvSpPr>
          <p:cNvPr id="15" name="Text 13"/>
          <p:cNvSpPr txBox="1"/>
          <p:nvPr/>
        </p:nvSpPr>
        <p:spPr>
          <a:xfrm>
            <a:off x="713232" y="3273552"/>
            <a:ext cx="2451278" cy="64008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แดชบอร์ดเหลือ 2 คอลัมน์</a:t>
            </a:r>
            <a:endParaRPr lang="en-US" sz="1900" dirty="0"/>
          </a:p>
        </p:txBody>
      </p:sp>
      <p:sp>
        <p:nvSpPr>
          <p:cNvPr id="16" name="bp1"/>
          <p:cNvSpPr txBox="1"/>
          <p:nvPr/>
        </p:nvSpPr>
        <p:spPr>
          <a:xfrm>
            <a:off x="3484550" y="2724912"/>
            <a:ext cx="2451278" cy="457200"/>
          </a:xfrm>
          <a:prstGeom prst="rect">
            <a:avLst/>
          </a:prstGeom>
          <a:noFill/>
          <a:ln/>
        </p:spPr>
        <p:txBody>
          <a:bodyPr wrap="square" lIns="0" tIns="0" rIns="0" bIns="0" rtlCol="0" anchor="ctr"/>
          <a:lstStyle/>
          <a:p>
            <a:pPr marL="0" indent="0">
              <a:buNone/>
            </a:pPr>
            <a:r>
              <a:rPr lang="en-US" sz="3000" b="1" dirty="0">
                <a:solidFill>
                  <a:srgbClr val="123A6B"/>
                </a:solidFill>
              </a:rPr>
              <a:t>900px</a:t>
            </a:r>
            <a:endParaRPr lang="en-US" sz="3000" dirty="0"/>
          </a:p>
        </p:txBody>
      </p:sp>
      <p:sp>
        <p:nvSpPr>
          <p:cNvPr id="17" name="Text 15"/>
          <p:cNvSpPr txBox="1"/>
          <p:nvPr/>
        </p:nvSpPr>
        <p:spPr>
          <a:xfrm>
            <a:off x="3484550" y="3273552"/>
            <a:ext cx="2451278" cy="64008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ทุกกริดเหลือคอลัมน์เดียว</a:t>
            </a:r>
            <a:endParaRPr lang="en-US" sz="1900" dirty="0"/>
          </a:p>
        </p:txBody>
      </p:sp>
      <p:sp>
        <p:nvSpPr>
          <p:cNvPr id="18" name="bp2"/>
          <p:cNvSpPr txBox="1"/>
          <p:nvPr/>
        </p:nvSpPr>
        <p:spPr>
          <a:xfrm>
            <a:off x="6255868" y="2724912"/>
            <a:ext cx="2451278" cy="457200"/>
          </a:xfrm>
          <a:prstGeom prst="rect">
            <a:avLst/>
          </a:prstGeom>
          <a:noFill/>
          <a:ln/>
        </p:spPr>
        <p:txBody>
          <a:bodyPr wrap="square" lIns="0" tIns="0" rIns="0" bIns="0" rtlCol="0" anchor="ctr"/>
          <a:lstStyle/>
          <a:p>
            <a:pPr marL="0" indent="0">
              <a:buNone/>
            </a:pPr>
            <a:r>
              <a:rPr lang="en-US" sz="3000" b="1" dirty="0">
                <a:solidFill>
                  <a:srgbClr val="123A6B"/>
                </a:solidFill>
              </a:rPr>
              <a:t>620px</a:t>
            </a:r>
            <a:endParaRPr lang="en-US" sz="3000" dirty="0"/>
          </a:p>
        </p:txBody>
      </p:sp>
      <p:sp>
        <p:nvSpPr>
          <p:cNvPr id="19" name="Text 17"/>
          <p:cNvSpPr txBox="1"/>
          <p:nvPr/>
        </p:nvSpPr>
        <p:spPr>
          <a:xfrm>
            <a:off x="6255868" y="3273552"/>
            <a:ext cx="2451278" cy="64008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การ์ดสรุปคอลัมน์เดียว</a:t>
            </a:r>
            <a:endParaRPr lang="en-US" sz="1900" dirty="0"/>
          </a:p>
        </p:txBody>
      </p:sp>
      <p:sp>
        <p:nvSpPr>
          <p:cNvPr id="20" name="bp3"/>
          <p:cNvSpPr txBox="1"/>
          <p:nvPr/>
        </p:nvSpPr>
        <p:spPr>
          <a:xfrm>
            <a:off x="9027185" y="2724912"/>
            <a:ext cx="2451278" cy="457200"/>
          </a:xfrm>
          <a:prstGeom prst="rect">
            <a:avLst/>
          </a:prstGeom>
          <a:noFill/>
          <a:ln/>
        </p:spPr>
        <p:txBody>
          <a:bodyPr wrap="square" lIns="0" tIns="0" rIns="0" bIns="0" rtlCol="0" anchor="ctr"/>
          <a:lstStyle/>
          <a:p>
            <a:pPr marL="0" indent="0">
              <a:buNone/>
            </a:pPr>
            <a:r>
              <a:rPr lang="en-US" sz="3000" b="1" dirty="0">
                <a:solidFill>
                  <a:srgbClr val="123A6B"/>
                </a:solidFill>
              </a:rPr>
              <a:t>420px</a:t>
            </a:r>
            <a:endParaRPr lang="en-US" sz="3000" dirty="0"/>
          </a:p>
        </p:txBody>
      </p:sp>
      <p:sp>
        <p:nvSpPr>
          <p:cNvPr id="21" name="Text 19"/>
          <p:cNvSpPr txBox="1"/>
          <p:nvPr/>
        </p:nvSpPr>
        <p:spPr>
          <a:xfrm>
            <a:off x="9027185" y="3273552"/>
            <a:ext cx="2451278" cy="64008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ลดขนาดตัวเลขสรุป</a:t>
            </a:r>
            <a:endParaRPr lang="en-US" sz="1900" dirty="0"/>
          </a:p>
        </p:txBody>
      </p:sp>
      <p:sp>
        <p:nvSpPr>
          <p:cNvPr id="22" name="bpEnd"/>
          <p:cNvSpPr/>
          <p:nvPr/>
        </p:nvSpPr>
        <p:spPr>
          <a:xfrm>
            <a:off x="713232" y="4206240"/>
            <a:ext cx="10765231" cy="0"/>
          </a:xfrm>
          <a:prstGeom prst="line">
            <a:avLst/>
          </a:prstGeom>
          <a:noFill/>
          <a:ln w="12700">
            <a:solidFill>
              <a:srgbClr val="D5DEE6"/>
            </a:solidFill>
            <a:prstDash val="solid"/>
          </a:ln>
        </p:spPr>
        <p:txBody>
          <a:bodyPr/>
          <a:lstStyle/>
          <a:p>
            <a:endParaRPr lang="en-US"/>
          </a:p>
        </p:txBody>
      </p:sp>
      <p:sp>
        <p:nvSpPr>
          <p:cNvPr id="24" name="Text 22"/>
          <p:cNvSpPr txBox="1"/>
          <p:nvPr/>
        </p:nvSpPr>
        <p:spPr>
          <a:xfrm>
            <a:off x="713232" y="5029200"/>
            <a:ext cx="4948276" cy="82296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ตารางที่กำหนดความกว้างขั้นต่ำ ดันคอลัมน์กริดจนหน้าล้นในช่วง 900 ถึง 1180 พิกเซล</a:t>
            </a:r>
            <a:endParaRPr lang="en-US" sz="1900" dirty="0"/>
          </a:p>
        </p:txBody>
      </p:sp>
      <p:sp>
        <p:nvSpPr>
          <p:cNvPr id="25" name="Text 23"/>
          <p:cNvSpPr txBox="1"/>
          <p:nvPr/>
        </p:nvSpPr>
        <p:spPr>
          <a:xfrm>
            <a:off x="6530188" y="5029200"/>
            <a:ext cx="4948276" cy="82296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แก้โดยยุบกริดด้วย minmax(0, 1fr) ไม่ใช่ 1fr เพราะ 1fr ยังโดนความกว้างขั้นต่ำดัน</a:t>
            </a:r>
            <a:endParaRPr lang="en-US" sz="1900" dirty="0"/>
          </a:p>
        </p:txBody>
      </p:sp>
      <p:sp>
        <p:nvSpPr>
          <p:cNvPr id="26"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a:solidFill>
                  <a:srgbClr val="123A6B"/>
                </a:solidFill>
              </a:rPr>
              <a:t>ปรับหน้าทดลองทำนาย ให้กรอกใหม่ได้และเห็นกฎจริง</a:t>
            </a:r>
            <a:endParaRPr lang="en-US" sz="3600" dirty="0"/>
          </a:p>
        </p:txBody>
      </p:sp>
      <p:sp>
        <p:nvSpPr>
          <p:cNvPr id="12" name="Text 10"/>
          <p:cNvSpPr txBox="1"/>
          <p:nvPr/>
        </p:nvSpPr>
        <p:spPr>
          <a:xfrm>
            <a:off x="713232" y="1627632"/>
            <a:ext cx="10765231" cy="457200"/>
          </a:xfrm>
          <a:prstGeom prst="rect">
            <a:avLst/>
          </a:prstGeom>
          <a:noFill/>
          <a:ln/>
        </p:spPr>
        <p:txBody>
          <a:bodyPr wrap="square" lIns="0" tIns="0" rIns="0" bIns="0" rtlCol="0" anchor="t"/>
          <a:lstStyle/>
          <a:p>
            <a:pPr marL="0" indent="0">
              <a:lnSpc>
                <a:spcPct val="135000"/>
              </a:lnSpc>
              <a:buNone/>
            </a:pPr>
            <a:r>
              <a:rPr lang="en-US" sz="2100" dirty="0">
                <a:solidFill>
                  <a:srgbClr val="44576E"/>
                </a:solidFill>
              </a:rPr>
              <a:t>ทุกครั้งที่ทำนาย เว็บจะแสดงกฎ ถ้า–แล้ว ของใบนั้น ซึ่งเป็น 1 ใน 92 กฎที่สกัดจากต้นไม้จริง</a:t>
            </a:r>
            <a:endParaRPr lang="en-US" sz="2100" dirty="0"/>
          </a:p>
        </p:txBody>
      </p:sp>
      <p:sp>
        <p:nvSpPr>
          <p:cNvPr id="13" name="pTop"/>
          <p:cNvSpPr/>
          <p:nvPr/>
        </p:nvSpPr>
        <p:spPr>
          <a:xfrm>
            <a:off x="713232" y="2377440"/>
            <a:ext cx="10765231" cy="0"/>
          </a:xfrm>
          <a:prstGeom prst="line">
            <a:avLst/>
          </a:prstGeom>
          <a:noFill/>
          <a:ln w="12700">
            <a:solidFill>
              <a:srgbClr val="123A6B"/>
            </a:solidFill>
            <a:prstDash val="solid"/>
          </a:ln>
        </p:spPr>
        <p:txBody>
          <a:bodyPr/>
          <a:lstStyle/>
          <a:p>
            <a:endParaRPr lang="en-US"/>
          </a:p>
        </p:txBody>
      </p:sp>
      <p:sp>
        <p:nvSpPr>
          <p:cNvPr id="14" name="Text 12"/>
          <p:cNvSpPr txBox="1"/>
          <p:nvPr/>
        </p:nvSpPr>
        <p:spPr>
          <a:xfrm>
            <a:off x="713232" y="2651760"/>
            <a:ext cx="3253130" cy="384048"/>
          </a:xfrm>
          <a:prstGeom prst="rect">
            <a:avLst/>
          </a:prstGeom>
          <a:noFill/>
          <a:ln/>
        </p:spPr>
        <p:txBody>
          <a:bodyPr wrap="square" lIns="0" tIns="0" rIns="0" bIns="0" rtlCol="0" anchor="t"/>
          <a:lstStyle/>
          <a:p>
            <a:pPr marL="0" indent="0">
              <a:buNone/>
            </a:pPr>
            <a:r>
              <a:rPr lang="en-US" sz="2400" b="1" dirty="0">
                <a:solidFill>
                  <a:srgbClr val="123A6B"/>
                </a:solidFill>
              </a:rPr>
              <a:t>กรอกค่าใหม่ได้</a:t>
            </a:r>
            <a:endParaRPr lang="en-US" sz="2400" dirty="0"/>
          </a:p>
        </p:txBody>
      </p:sp>
      <p:sp>
        <p:nvSpPr>
          <p:cNvPr id="15" name="Text 13"/>
          <p:cNvSpPr txBox="1"/>
          <p:nvPr/>
        </p:nvSpPr>
        <p:spPr>
          <a:xfrm>
            <a:off x="713232" y="3200400"/>
            <a:ext cx="3253130" cy="137160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พิมพ์ค่าที่ไม่เคยมีในข้อมูลได้ เว็บจะบอกว่าตัวแบบจัดการอย่างไร</a:t>
            </a:r>
            <a:endParaRPr lang="en-US" sz="1900" dirty="0"/>
          </a:p>
        </p:txBody>
      </p:sp>
      <p:sp>
        <p:nvSpPr>
          <p:cNvPr id="16" name="Text 14"/>
          <p:cNvSpPr txBox="1"/>
          <p:nvPr/>
        </p:nvSpPr>
        <p:spPr>
          <a:xfrm>
            <a:off x="4469282" y="2651760"/>
            <a:ext cx="3253130" cy="384048"/>
          </a:xfrm>
          <a:prstGeom prst="rect">
            <a:avLst/>
          </a:prstGeom>
          <a:noFill/>
          <a:ln/>
        </p:spPr>
        <p:txBody>
          <a:bodyPr wrap="square" lIns="0" tIns="0" rIns="0" bIns="0" rtlCol="0" anchor="t"/>
          <a:lstStyle/>
          <a:p>
            <a:pPr marL="0" indent="0">
              <a:buNone/>
            </a:pPr>
            <a:r>
              <a:rPr lang="en-US" sz="2400" b="1" dirty="0">
                <a:solidFill>
                  <a:srgbClr val="123A6B"/>
                </a:solidFill>
              </a:rPr>
              <a:t>เห็นกฎที่ใช้ตัดสิน</a:t>
            </a:r>
            <a:endParaRPr lang="en-US" sz="2400" dirty="0"/>
          </a:p>
        </p:txBody>
      </p:sp>
      <p:sp>
        <p:nvSpPr>
          <p:cNvPr id="17" name="Text 15"/>
          <p:cNvSpPr txBox="1"/>
          <p:nvPr/>
        </p:nvSpPr>
        <p:spPr>
          <a:xfrm>
            <a:off x="4469282" y="3200400"/>
            <a:ext cx="3253130" cy="137160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แสดงเงื่อนไขทีละข้อ ตรวจย้อนกับกฎ 92 ข้อในภาคผนวกได้</a:t>
            </a:r>
            <a:endParaRPr lang="en-US" sz="1900" dirty="0"/>
          </a:p>
        </p:txBody>
      </p:sp>
      <p:sp>
        <p:nvSpPr>
          <p:cNvPr id="18" name="Text 16"/>
          <p:cNvSpPr txBox="1"/>
          <p:nvPr/>
        </p:nvSpPr>
        <p:spPr>
          <a:xfrm>
            <a:off x="8225333" y="2651760"/>
            <a:ext cx="3253130" cy="384048"/>
          </a:xfrm>
          <a:prstGeom prst="rect">
            <a:avLst/>
          </a:prstGeom>
          <a:noFill/>
          <a:ln/>
        </p:spPr>
        <p:txBody>
          <a:bodyPr wrap="square" lIns="0" tIns="0" rIns="0" bIns="0" rtlCol="0" anchor="t"/>
          <a:lstStyle/>
          <a:p>
            <a:pPr marL="0" indent="0">
              <a:buNone/>
            </a:pPr>
            <a:r>
              <a:rPr lang="en-US" sz="2400" b="1" dirty="0">
                <a:solidFill>
                  <a:srgbClr val="123A6B"/>
                </a:solidFill>
              </a:rPr>
              <a:t>ตัดสิ่งที่สับสนออก</a:t>
            </a:r>
            <a:endParaRPr lang="en-US" sz="2400" dirty="0"/>
          </a:p>
        </p:txBody>
      </p:sp>
      <p:sp>
        <p:nvSpPr>
          <p:cNvPr id="19" name="Text 17"/>
          <p:cNvSpPr txBox="1"/>
          <p:nvPr/>
        </p:nvSpPr>
        <p:spPr>
          <a:xfrm>
            <a:off x="8225333" y="3200400"/>
            <a:ext cx="3253130" cy="1371600"/>
          </a:xfrm>
          <a:prstGeom prst="rect">
            <a:avLst/>
          </a:prstGeom>
          <a:noFill/>
          <a:ln/>
        </p:spPr>
        <p:txBody>
          <a:bodyPr wrap="square" lIns="0" tIns="0" rIns="0" bIns="0" rtlCol="0" anchor="t"/>
          <a:lstStyle/>
          <a:p>
            <a:pPr marL="0" indent="0">
              <a:lnSpc>
                <a:spcPct val="135000"/>
              </a:lnSpc>
              <a:buNone/>
            </a:pPr>
            <a:r>
              <a:rPr lang="en-US" sz="1900" dirty="0">
                <a:solidFill>
                  <a:srgbClr val="44576E"/>
                </a:solidFill>
              </a:rPr>
              <a:t>เอากลุ่ม สัตว์น้ำอื่นๆ และปุ่มสุ่มตัวอย่างออก</a:t>
            </a:r>
            <a:endParaRPr lang="en-US" sz="1900" dirty="0"/>
          </a:p>
        </p:txBody>
      </p:sp>
      <p:sp>
        <p:nvSpPr>
          <p:cNvPr id="20" name="pMid"/>
          <p:cNvSpPr/>
          <p:nvPr/>
        </p:nvSpPr>
        <p:spPr>
          <a:xfrm>
            <a:off x="713232" y="4846320"/>
            <a:ext cx="10765231" cy="0"/>
          </a:xfrm>
          <a:prstGeom prst="line">
            <a:avLst/>
          </a:prstGeom>
          <a:noFill/>
          <a:ln w="12700">
            <a:solidFill>
              <a:srgbClr val="BFD5E2"/>
            </a:solidFill>
            <a:prstDash val="solid"/>
          </a:ln>
        </p:spPr>
        <p:txBody>
          <a:bodyPr/>
          <a:lstStyle/>
          <a:p>
            <a:endParaRPr lang="en-US"/>
          </a:p>
        </p:txBody>
      </p:sp>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a:solidFill>
                  <a:srgbClr val="123A6B"/>
                </a:solidFill>
              </a:rPr>
              <a:t>ทำภาพต้นไม้การตัดสินใจ 3 </a:t>
            </a:r>
            <a:r>
              <a:rPr lang="en-US" sz="3600" b="1" dirty="0" err="1">
                <a:solidFill>
                  <a:srgbClr val="123A6B"/>
                </a:solidFill>
              </a:rPr>
              <a:t>มุมมอ</a:t>
            </a:r>
            <a:r>
              <a:rPr lang="th-TH" sz="3600" b="1" dirty="0">
                <a:solidFill>
                  <a:srgbClr val="123A6B"/>
                </a:solidFill>
              </a:rPr>
              <a:t>ง</a:t>
            </a:r>
            <a:endParaRPr lang="en-US" sz="3600" dirty="0"/>
          </a:p>
        </p:txBody>
      </p:sp>
      <p:sp>
        <p:nvSpPr>
          <p:cNvPr id="13" name="vTop"/>
          <p:cNvSpPr/>
          <p:nvPr/>
        </p:nvSpPr>
        <p:spPr>
          <a:xfrm>
            <a:off x="710489" y="1944015"/>
            <a:ext cx="10765231" cy="0"/>
          </a:xfrm>
          <a:prstGeom prst="line">
            <a:avLst/>
          </a:prstGeom>
          <a:noFill/>
          <a:ln w="12700">
            <a:solidFill>
              <a:srgbClr val="123A6B"/>
            </a:solidFill>
            <a:prstDash val="solid"/>
          </a:ln>
        </p:spPr>
        <p:txBody>
          <a:bodyPr/>
          <a:lstStyle/>
          <a:p>
            <a:endParaRPr lang="en-US" sz="2000"/>
          </a:p>
        </p:txBody>
      </p:sp>
      <p:sp>
        <p:nvSpPr>
          <p:cNvPr id="14" name="Text 12"/>
          <p:cNvSpPr txBox="1"/>
          <p:nvPr/>
        </p:nvSpPr>
        <p:spPr>
          <a:xfrm>
            <a:off x="710489" y="2218335"/>
            <a:ext cx="3253130" cy="384048"/>
          </a:xfrm>
          <a:prstGeom prst="rect">
            <a:avLst/>
          </a:prstGeom>
          <a:noFill/>
          <a:ln/>
        </p:spPr>
        <p:txBody>
          <a:bodyPr wrap="square" lIns="0" tIns="0" rIns="0" bIns="0" rtlCol="0" anchor="t"/>
          <a:lstStyle/>
          <a:p>
            <a:pPr marL="0" indent="0">
              <a:buNone/>
            </a:pPr>
            <a:r>
              <a:rPr lang="en-US" sz="2800" b="1" dirty="0">
                <a:solidFill>
                  <a:srgbClr val="0E7E99"/>
                </a:solidFill>
              </a:rPr>
              <a:t>ต้นไม้</a:t>
            </a:r>
            <a:endParaRPr lang="en-US" sz="2800" dirty="0"/>
          </a:p>
        </p:txBody>
      </p:sp>
      <p:sp>
        <p:nvSpPr>
          <p:cNvPr id="15" name="Text 13"/>
          <p:cNvSpPr txBox="1"/>
          <p:nvPr/>
        </p:nvSpPr>
        <p:spPr>
          <a:xfrm>
            <a:off x="710489" y="2766975"/>
            <a:ext cx="3253130" cy="1463040"/>
          </a:xfrm>
          <a:prstGeom prst="rect">
            <a:avLst/>
          </a:prstGeom>
          <a:noFill/>
          <a:ln/>
        </p:spPr>
        <p:txBody>
          <a:bodyPr wrap="square" lIns="0" tIns="0" rIns="0" bIns="0" rtlCol="0" anchor="t"/>
          <a:lstStyle/>
          <a:p>
            <a:pPr marL="0" indent="0">
              <a:lnSpc>
                <a:spcPct val="135000"/>
              </a:lnSpc>
              <a:buNone/>
            </a:pPr>
            <a:r>
              <a:rPr lang="en-US" sz="2000" dirty="0">
                <a:solidFill>
                  <a:srgbClr val="44576E"/>
                </a:solidFill>
              </a:rPr>
              <a:t>ลำต้นหนาตามจำนวนข้อมูล พุ่มใบสีตามช่องทางที่ทำนาย กางกิ่งข้างเคียงได้ 4 ระดับ</a:t>
            </a:r>
            <a:endParaRPr lang="en-US" sz="2000" dirty="0"/>
          </a:p>
        </p:txBody>
      </p:sp>
      <p:sp>
        <p:nvSpPr>
          <p:cNvPr id="16" name="Text 14"/>
          <p:cNvSpPr txBox="1"/>
          <p:nvPr/>
        </p:nvSpPr>
        <p:spPr>
          <a:xfrm>
            <a:off x="4466539" y="2218335"/>
            <a:ext cx="3253130" cy="384048"/>
          </a:xfrm>
          <a:prstGeom prst="rect">
            <a:avLst/>
          </a:prstGeom>
          <a:noFill/>
          <a:ln/>
        </p:spPr>
        <p:txBody>
          <a:bodyPr wrap="square" lIns="0" tIns="0" rIns="0" bIns="0" rtlCol="0" anchor="t"/>
          <a:lstStyle/>
          <a:p>
            <a:pPr marL="0" indent="0">
              <a:buNone/>
            </a:pPr>
            <a:r>
              <a:rPr lang="en-US" sz="2800" b="1" dirty="0">
                <a:solidFill>
                  <a:srgbClr val="123A6B"/>
                </a:solidFill>
              </a:rPr>
              <a:t>ผังแผนภาพ</a:t>
            </a:r>
            <a:endParaRPr lang="en-US" sz="2800" dirty="0"/>
          </a:p>
        </p:txBody>
      </p:sp>
      <p:sp>
        <p:nvSpPr>
          <p:cNvPr id="17" name="Text 15"/>
          <p:cNvSpPr txBox="1"/>
          <p:nvPr/>
        </p:nvSpPr>
        <p:spPr>
          <a:xfrm>
            <a:off x="4466539" y="2766975"/>
            <a:ext cx="3253130" cy="1463040"/>
          </a:xfrm>
          <a:prstGeom prst="rect">
            <a:avLst/>
          </a:prstGeom>
          <a:noFill/>
          <a:ln/>
        </p:spPr>
        <p:txBody>
          <a:bodyPr wrap="square" lIns="0" tIns="0" rIns="0" bIns="0" rtlCol="0" anchor="t"/>
          <a:lstStyle/>
          <a:p>
            <a:pPr marL="0" indent="0">
              <a:lnSpc>
                <a:spcPct val="135000"/>
              </a:lnSpc>
              <a:buNone/>
            </a:pPr>
            <a:r>
              <a:rPr lang="en-US" sz="2000" dirty="0">
                <a:solidFill>
                  <a:srgbClr val="44576E"/>
                </a:solidFill>
              </a:rPr>
              <a:t>ผังมาตรฐาน </a:t>
            </a:r>
            <a:r>
              <a:rPr lang="en-US" sz="2000" dirty="0" err="1">
                <a:solidFill>
                  <a:srgbClr val="44576E"/>
                </a:solidFill>
              </a:rPr>
              <a:t>การ์ดคำถามเรียงเป็นชั้น</a:t>
            </a:r>
            <a:endParaRPr lang="en-US" sz="2000" dirty="0"/>
          </a:p>
        </p:txBody>
      </p:sp>
      <p:sp>
        <p:nvSpPr>
          <p:cNvPr id="18" name="Text 16"/>
          <p:cNvSpPr txBox="1"/>
          <p:nvPr/>
        </p:nvSpPr>
        <p:spPr>
          <a:xfrm>
            <a:off x="8222590" y="2218335"/>
            <a:ext cx="3253130" cy="384048"/>
          </a:xfrm>
          <a:prstGeom prst="rect">
            <a:avLst/>
          </a:prstGeom>
          <a:noFill/>
          <a:ln/>
        </p:spPr>
        <p:txBody>
          <a:bodyPr wrap="square" lIns="0" tIns="0" rIns="0" bIns="0" rtlCol="0" anchor="t"/>
          <a:lstStyle/>
          <a:p>
            <a:pPr marL="0" indent="0">
              <a:buNone/>
            </a:pPr>
            <a:r>
              <a:rPr lang="en-US" sz="2800" b="1" dirty="0">
                <a:solidFill>
                  <a:srgbClr val="123A6B"/>
                </a:solidFill>
              </a:rPr>
              <a:t>รายการเงื่อนไข</a:t>
            </a:r>
            <a:endParaRPr lang="en-US" sz="2800" dirty="0"/>
          </a:p>
        </p:txBody>
      </p:sp>
      <p:sp>
        <p:nvSpPr>
          <p:cNvPr id="19" name="Text 17"/>
          <p:cNvSpPr txBox="1"/>
          <p:nvPr/>
        </p:nvSpPr>
        <p:spPr>
          <a:xfrm>
            <a:off x="8222590" y="2766975"/>
            <a:ext cx="3253130" cy="1463040"/>
          </a:xfrm>
          <a:prstGeom prst="rect">
            <a:avLst/>
          </a:prstGeom>
          <a:noFill/>
          <a:ln/>
        </p:spPr>
        <p:txBody>
          <a:bodyPr wrap="square" lIns="0" tIns="0" rIns="0" bIns="0" rtlCol="0" anchor="t"/>
          <a:lstStyle/>
          <a:p>
            <a:pPr marL="0" indent="0">
              <a:lnSpc>
                <a:spcPct val="135000"/>
              </a:lnSpc>
              <a:buNone/>
            </a:pPr>
            <a:r>
              <a:rPr lang="en-US" sz="2000" dirty="0">
                <a:solidFill>
                  <a:srgbClr val="44576E"/>
                </a:solidFill>
              </a:rPr>
              <a:t>ไล่เป็นข้อ ๆ </a:t>
            </a:r>
            <a:r>
              <a:rPr lang="en-US" sz="2000" dirty="0" err="1">
                <a:solidFill>
                  <a:srgbClr val="44576E"/>
                </a:solidFill>
              </a:rPr>
              <a:t>พร้อมจำนวนรายการที่เหลือ</a:t>
            </a:r>
            <a:endParaRPr lang="en-US" sz="2000" dirty="0"/>
          </a:p>
        </p:txBody>
      </p:sp>
      <p:sp>
        <p:nvSpPr>
          <p:cNvPr id="20" name="vMid"/>
          <p:cNvSpPr/>
          <p:nvPr/>
        </p:nvSpPr>
        <p:spPr>
          <a:xfrm>
            <a:off x="710489" y="4275735"/>
            <a:ext cx="10765231" cy="0"/>
          </a:xfrm>
          <a:prstGeom prst="line">
            <a:avLst/>
          </a:prstGeom>
          <a:noFill/>
          <a:ln w="12700">
            <a:solidFill>
              <a:srgbClr val="D5DEE6"/>
            </a:solidFill>
            <a:prstDash val="solid"/>
          </a:ln>
        </p:spPr>
        <p:txBody>
          <a:bodyPr/>
          <a:lstStyle/>
          <a:p>
            <a:endParaRPr lang="en-US" sz="2000"/>
          </a:p>
        </p:txBody>
      </p:sp>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lgn="l">
              <a:buNone/>
            </a:pPr>
            <a:r>
              <a:rPr lang="en-US" sz="3600" b="1" dirty="0">
                <a:solidFill>
                  <a:srgbClr val="123A6B"/>
                </a:solidFill>
              </a:rPr>
              <a:t>เพิ่มคำอธิบายในเว็บ จากข้อสงสัยที่พบตอนให้คนลองใช้</a:t>
            </a:r>
            <a:endParaRPr lang="en-US" sz="3600" dirty="0"/>
          </a:p>
        </p:txBody>
      </p:sp>
      <p:sp>
        <p:nvSpPr>
          <p:cNvPr id="12" name="Text 10"/>
          <p:cNvSpPr txBox="1"/>
          <p:nvPr/>
        </p:nvSpPr>
        <p:spPr>
          <a:xfrm>
            <a:off x="713232" y="1627632"/>
            <a:ext cx="10765231" cy="457200"/>
          </a:xfrm>
          <a:prstGeom prst="rect">
            <a:avLst/>
          </a:prstGeom>
          <a:noFill/>
          <a:ln/>
        </p:spPr>
        <p:txBody>
          <a:bodyPr wrap="square" lIns="0" tIns="0" rIns="0" bIns="0" rtlCol="0" anchor="t"/>
          <a:lstStyle/>
          <a:p>
            <a:pPr marL="0" indent="0">
              <a:lnSpc>
                <a:spcPct val="135000"/>
              </a:lnSpc>
              <a:buNone/>
            </a:pPr>
            <a:r>
              <a:rPr lang="en-US" sz="2100" dirty="0" err="1">
                <a:solidFill>
                  <a:srgbClr val="44576E"/>
                </a:solidFill>
              </a:rPr>
              <a:t>ทั้งสามเรื่องมาจากพฤติกรรมปกติของการเข้า</a:t>
            </a:r>
            <a:r>
              <a:rPr lang="th-TH" sz="2100" dirty="0">
                <a:solidFill>
                  <a:srgbClr val="44576E"/>
                </a:solidFill>
              </a:rPr>
              <a:t>ใช้งาน</a:t>
            </a:r>
            <a:endParaRPr lang="en-US" sz="2100" dirty="0"/>
          </a:p>
        </p:txBody>
      </p:sp>
      <p:sp>
        <p:nvSpPr>
          <p:cNvPr id="13" name="f0"/>
          <p:cNvSpPr/>
          <p:nvPr/>
        </p:nvSpPr>
        <p:spPr>
          <a:xfrm>
            <a:off x="713232" y="2212848"/>
            <a:ext cx="10765231" cy="0"/>
          </a:xfrm>
          <a:prstGeom prst="line">
            <a:avLst/>
          </a:prstGeom>
          <a:noFill/>
          <a:ln w="12700">
            <a:solidFill>
              <a:srgbClr val="BFD5E2"/>
            </a:solidFill>
            <a:prstDash val="solid"/>
          </a:ln>
        </p:spPr>
        <p:txBody>
          <a:bodyPr/>
          <a:lstStyle/>
          <a:p>
            <a:endParaRPr lang="en-US"/>
          </a:p>
        </p:txBody>
      </p:sp>
      <p:sp>
        <p:nvSpPr>
          <p:cNvPr id="14" name="Text 12"/>
          <p:cNvSpPr txBox="1"/>
          <p:nvPr/>
        </p:nvSpPr>
        <p:spPr>
          <a:xfrm>
            <a:off x="713232" y="2487168"/>
            <a:ext cx="10765231" cy="411480"/>
          </a:xfrm>
          <a:prstGeom prst="rect">
            <a:avLst/>
          </a:prstGeom>
          <a:noFill/>
          <a:ln/>
        </p:spPr>
        <p:txBody>
          <a:bodyPr wrap="square" lIns="0" tIns="0" rIns="0" bIns="0" rtlCol="0" anchor="t"/>
          <a:lstStyle/>
          <a:p>
            <a:pPr marL="0" indent="0">
              <a:buNone/>
            </a:pPr>
            <a:r>
              <a:rPr lang="en-US" sz="2600" b="1" dirty="0">
                <a:solidFill>
                  <a:srgbClr val="123A6B"/>
                </a:solidFill>
              </a:rPr>
              <a:t>เงื่อนไขอ่านว่า ไม่ใช่ มีชีวิต ทั้งที่ปลายังเป็น ๆ</a:t>
            </a:r>
            <a:endParaRPr lang="en-US" sz="2600" dirty="0"/>
          </a:p>
        </p:txBody>
      </p:sp>
      <p:sp>
        <p:nvSpPr>
          <p:cNvPr id="15" name="Text 13"/>
          <p:cNvSpPr txBox="1"/>
          <p:nvPr/>
        </p:nvSpPr>
        <p:spPr>
          <a:xfrm>
            <a:off x="713232" y="2980944"/>
            <a:ext cx="10765231" cy="384048"/>
          </a:xfrm>
          <a:prstGeom prst="rect">
            <a:avLst/>
          </a:prstGeom>
          <a:noFill/>
          <a:ln/>
        </p:spPr>
        <p:txBody>
          <a:bodyPr wrap="square" lIns="0" tIns="0" rIns="0" bIns="0" rtlCol="0" anchor="t"/>
          <a:lstStyle/>
          <a:p>
            <a:pPr marL="0" indent="0">
              <a:lnSpc>
                <a:spcPct val="135000"/>
              </a:lnSpc>
              <a:buNone/>
            </a:pPr>
            <a:r>
              <a:rPr lang="en-US" sz="1700" dirty="0">
                <a:solidFill>
                  <a:srgbClr val="44576E"/>
                </a:solidFill>
              </a:rPr>
              <a:t>เงื่อนไขเทียบรหัสในคอลัมน์ ไม่ใช่คุณสมบัติของสัตว์</a:t>
            </a:r>
            <a:endParaRPr lang="en-US" sz="1700" dirty="0"/>
          </a:p>
        </p:txBody>
      </p:sp>
      <p:sp>
        <p:nvSpPr>
          <p:cNvPr id="16" name="f1"/>
          <p:cNvSpPr/>
          <p:nvPr/>
        </p:nvSpPr>
        <p:spPr>
          <a:xfrm>
            <a:off x="713232" y="3401568"/>
            <a:ext cx="10765231" cy="0"/>
          </a:xfrm>
          <a:prstGeom prst="line">
            <a:avLst/>
          </a:prstGeom>
          <a:noFill/>
          <a:ln w="12700">
            <a:solidFill>
              <a:srgbClr val="BFD5E2"/>
            </a:solidFill>
            <a:prstDash val="solid"/>
          </a:ln>
        </p:spPr>
        <p:txBody>
          <a:bodyPr/>
          <a:lstStyle/>
          <a:p>
            <a:endParaRPr lang="en-US"/>
          </a:p>
        </p:txBody>
      </p:sp>
      <p:sp>
        <p:nvSpPr>
          <p:cNvPr id="17" name="Text 15"/>
          <p:cNvSpPr txBox="1"/>
          <p:nvPr/>
        </p:nvSpPr>
        <p:spPr>
          <a:xfrm>
            <a:off x="713232" y="3675888"/>
            <a:ext cx="10765231" cy="411480"/>
          </a:xfrm>
          <a:prstGeom prst="rect">
            <a:avLst/>
          </a:prstGeom>
          <a:noFill/>
          <a:ln/>
        </p:spPr>
        <p:txBody>
          <a:bodyPr wrap="square" lIns="0" tIns="0" rIns="0" bIns="0" rtlCol="0" anchor="t"/>
          <a:lstStyle/>
          <a:p>
            <a:pPr marL="0" indent="0">
              <a:buNone/>
            </a:pPr>
            <a:r>
              <a:rPr lang="en-US" sz="2600" b="1" dirty="0">
                <a:solidFill>
                  <a:srgbClr val="123A6B"/>
                </a:solidFill>
              </a:rPr>
              <a:t>กฎข้อเดียวไล่ชื่อประเทศหลายข้อ</a:t>
            </a:r>
            <a:endParaRPr lang="en-US" sz="2600" dirty="0"/>
          </a:p>
        </p:txBody>
      </p:sp>
      <p:sp>
        <p:nvSpPr>
          <p:cNvPr id="18" name="Text 16"/>
          <p:cNvSpPr txBox="1"/>
          <p:nvPr/>
        </p:nvSpPr>
        <p:spPr>
          <a:xfrm>
            <a:off x="713232" y="4169664"/>
            <a:ext cx="10765231" cy="384048"/>
          </a:xfrm>
          <a:prstGeom prst="rect">
            <a:avLst/>
          </a:prstGeom>
          <a:noFill/>
          <a:ln/>
        </p:spPr>
        <p:txBody>
          <a:bodyPr wrap="square" lIns="0" tIns="0" rIns="0" bIns="0" rtlCol="0" anchor="t"/>
          <a:lstStyle/>
          <a:p>
            <a:pPr marL="0" indent="0">
              <a:lnSpc>
                <a:spcPct val="135000"/>
              </a:lnSpc>
              <a:buNone/>
            </a:pPr>
            <a:r>
              <a:rPr lang="en-US" sz="1700" dirty="0">
                <a:solidFill>
                  <a:srgbClr val="44576E"/>
                </a:solidFill>
              </a:rPr>
              <a:t>ข้อที่ขึ้นต้นด้วย ไม่ใช่ คือทางที่ถูกตัดไปก่อนหน้า</a:t>
            </a:r>
            <a:endParaRPr lang="en-US" sz="1700" dirty="0"/>
          </a:p>
        </p:txBody>
      </p:sp>
      <p:sp>
        <p:nvSpPr>
          <p:cNvPr id="19" name="f2"/>
          <p:cNvSpPr/>
          <p:nvPr/>
        </p:nvSpPr>
        <p:spPr>
          <a:xfrm>
            <a:off x="713232" y="4590288"/>
            <a:ext cx="10765231" cy="0"/>
          </a:xfrm>
          <a:prstGeom prst="line">
            <a:avLst/>
          </a:prstGeom>
          <a:noFill/>
          <a:ln w="12700">
            <a:solidFill>
              <a:srgbClr val="BFD5E2"/>
            </a:solidFill>
            <a:prstDash val="solid"/>
          </a:ln>
        </p:spPr>
        <p:txBody>
          <a:bodyPr/>
          <a:lstStyle/>
          <a:p>
            <a:endParaRPr lang="en-US"/>
          </a:p>
        </p:txBody>
      </p:sp>
      <p:sp>
        <p:nvSpPr>
          <p:cNvPr id="20" name="Text 18"/>
          <p:cNvSpPr txBox="1"/>
          <p:nvPr/>
        </p:nvSpPr>
        <p:spPr>
          <a:xfrm>
            <a:off x="713232" y="4864608"/>
            <a:ext cx="10765231" cy="411480"/>
          </a:xfrm>
          <a:prstGeom prst="rect">
            <a:avLst/>
          </a:prstGeom>
          <a:noFill/>
          <a:ln/>
        </p:spPr>
        <p:txBody>
          <a:bodyPr wrap="square" lIns="0" tIns="0" rIns="0" bIns="0" rtlCol="0" anchor="t"/>
          <a:lstStyle/>
          <a:p>
            <a:pPr marL="0" indent="0">
              <a:buNone/>
            </a:pPr>
            <a:r>
              <a:rPr lang="en-US" sz="2600" b="1" dirty="0">
                <a:solidFill>
                  <a:srgbClr val="123A6B"/>
                </a:solidFill>
              </a:rPr>
              <a:t>รหัสสินค้าคนละอย่าง เดินเส้นทางเดียวกัน</a:t>
            </a:r>
            <a:endParaRPr lang="en-US" sz="2600" dirty="0"/>
          </a:p>
        </p:txBody>
      </p:sp>
      <p:sp>
        <p:nvSpPr>
          <p:cNvPr id="21" name="Text 19"/>
          <p:cNvSpPr txBox="1"/>
          <p:nvPr/>
        </p:nvSpPr>
        <p:spPr>
          <a:xfrm>
            <a:off x="713232" y="5358384"/>
            <a:ext cx="10765231" cy="384048"/>
          </a:xfrm>
          <a:prstGeom prst="rect">
            <a:avLst/>
          </a:prstGeom>
          <a:noFill/>
          <a:ln/>
        </p:spPr>
        <p:txBody>
          <a:bodyPr wrap="square" lIns="0" tIns="0" rIns="0" bIns="0" rtlCol="0" anchor="t"/>
          <a:lstStyle/>
          <a:p>
            <a:pPr marL="0" indent="0">
              <a:lnSpc>
                <a:spcPct val="135000"/>
              </a:lnSpc>
              <a:buNone/>
            </a:pPr>
            <a:r>
              <a:rPr lang="en-US" sz="1700" dirty="0">
                <a:solidFill>
                  <a:srgbClr val="44576E"/>
                </a:solidFill>
              </a:rPr>
              <a:t>ต้นไม้แยกกิ่งเฉพาะ 9 จาก 27 รหัส ที่เหลือแยกด้วยปริมาณและประเทศ</a:t>
            </a:r>
            <a:endParaRPr lang="en-US" sz="1700" dirty="0"/>
          </a:p>
        </p:txBody>
      </p:sp>
      <p:sp>
        <p:nvSpPr>
          <p:cNvPr id="22" name="fEnd"/>
          <p:cNvSpPr/>
          <p:nvPr/>
        </p:nvSpPr>
        <p:spPr>
          <a:xfrm>
            <a:off x="713232" y="5779008"/>
            <a:ext cx="10765231" cy="0"/>
          </a:xfrm>
          <a:prstGeom prst="line">
            <a:avLst/>
          </a:prstGeom>
          <a:noFill/>
          <a:ln w="12700">
            <a:solidFill>
              <a:srgbClr val="BFD5E2"/>
            </a:solidFill>
            <a:prstDash val="solid"/>
          </a:ln>
        </p:spPr>
        <p:txBody>
          <a:bodyPr/>
          <a:lstStyle/>
          <a:p>
            <a:endParaRPr lang="en-US"/>
          </a:p>
        </p:txBody>
      </p:sp>
      <p:sp>
        <p:nvSpPr>
          <p:cNvPr id="23" name="Text 21"/>
          <p:cNvSpPr txBox="1"/>
          <p:nvPr/>
        </p:nvSpPr>
        <p:spPr>
          <a:xfrm>
            <a:off x="713232" y="5943600"/>
            <a:ext cx="10765231" cy="365760"/>
          </a:xfrm>
          <a:prstGeom prst="rect">
            <a:avLst/>
          </a:prstGeom>
          <a:noFill/>
          <a:ln/>
        </p:spPr>
        <p:txBody>
          <a:bodyPr wrap="square" lIns="0" tIns="0" rIns="0" bIns="0" rtlCol="0" anchor="t"/>
          <a:lstStyle/>
          <a:p>
            <a:pPr marL="0" indent="0">
              <a:lnSpc>
                <a:spcPct val="135000"/>
              </a:lnSpc>
              <a:buNone/>
            </a:pPr>
            <a:r>
              <a:rPr lang="en-US" sz="1600" dirty="0">
                <a:solidFill>
                  <a:srgbClr val="44576E"/>
                </a:solidFill>
              </a:rPr>
              <a:t>ทุกเรื่องมีกล่องคำอธิบายขึ้นอัตโนมัติใต้ผลทำนาย เมื่อผู้ใช้กรอกข้อมูลที่เข้าเงื่อนไขนั้น</a:t>
            </a:r>
            <a:endParaRPr lang="en-US" sz="1600" dirty="0"/>
          </a:p>
        </p:txBody>
      </p:sp>
      <p:sp>
        <p:nvSpPr>
          <p:cNvPr id="25"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r0"/>
          <p:cNvSpPr/>
          <p:nvPr/>
        </p:nvSpPr>
        <p:spPr>
          <a:xfrm>
            <a:off x="0" y="6775704"/>
            <a:ext cx="6040985" cy="82296"/>
          </a:xfrm>
          <a:prstGeom prst="rect">
            <a:avLst/>
          </a:prstGeom>
          <a:solidFill>
            <a:srgbClr val="0E9FBF">
              <a:alpha val="88000"/>
            </a:srgbClr>
          </a:solidFill>
          <a:ln/>
        </p:spPr>
        <p:txBody>
          <a:bodyPr/>
          <a:lstStyle/>
          <a:p>
            <a:endParaRPr lang="en-US"/>
          </a:p>
        </p:txBody>
      </p:sp>
      <p:sp>
        <p:nvSpPr>
          <p:cNvPr id="3" name="bar1"/>
          <p:cNvSpPr/>
          <p:nvPr/>
        </p:nvSpPr>
        <p:spPr>
          <a:xfrm>
            <a:off x="6040985" y="6775704"/>
            <a:ext cx="3184471" cy="82296"/>
          </a:xfrm>
          <a:prstGeom prst="rect">
            <a:avLst/>
          </a:prstGeom>
          <a:solidFill>
            <a:srgbClr val="B96F22">
              <a:alpha val="88000"/>
            </a:srgbClr>
          </a:solidFill>
          <a:ln/>
        </p:spPr>
        <p:txBody>
          <a:bodyPr/>
          <a:lstStyle/>
          <a:p>
            <a:endParaRPr lang="en-US"/>
          </a:p>
        </p:txBody>
      </p:sp>
      <p:sp>
        <p:nvSpPr>
          <p:cNvPr id="4" name="bar2"/>
          <p:cNvSpPr/>
          <p:nvPr/>
        </p:nvSpPr>
        <p:spPr>
          <a:xfrm>
            <a:off x="9225456" y="6775704"/>
            <a:ext cx="2965020" cy="82296"/>
          </a:xfrm>
          <a:prstGeom prst="rect">
            <a:avLst/>
          </a:prstGeom>
          <a:solidFill>
            <a:srgbClr val="5B6BD6">
              <a:alpha val="88000"/>
            </a:srgbClr>
          </a:solidFill>
          <a:ln/>
        </p:spPr>
        <p:txBody>
          <a:bodyPr/>
          <a:lstStyle/>
          <a:p>
            <a:endParaRPr lang="en-US"/>
          </a:p>
        </p:txBody>
      </p:sp>
      <p:sp>
        <p:nvSpPr>
          <p:cNvPr id="5" name="dot"/>
          <p:cNvSpPr/>
          <p:nvPr/>
        </p:nvSpPr>
        <p:spPr>
          <a:xfrm>
            <a:off x="11356848" y="548640"/>
            <a:ext cx="65837" cy="65837"/>
          </a:xfrm>
          <a:prstGeom prst="ellipse">
            <a:avLst/>
          </a:prstGeom>
          <a:solidFill>
            <a:srgbClr val="0E7E99">
              <a:alpha val="32000"/>
            </a:srgbClr>
          </a:solidFill>
          <a:ln/>
        </p:spPr>
        <p:txBody>
          <a:bodyPr/>
          <a:lstStyle/>
          <a:p>
            <a:endParaRPr lang="en-US"/>
          </a:p>
        </p:txBody>
      </p:sp>
      <p:sp>
        <p:nvSpPr>
          <p:cNvPr id="6" name="dot"/>
          <p:cNvSpPr/>
          <p:nvPr/>
        </p:nvSpPr>
        <p:spPr>
          <a:xfrm>
            <a:off x="11356848" y="704088"/>
            <a:ext cx="65837" cy="65837"/>
          </a:xfrm>
          <a:prstGeom prst="ellipse">
            <a:avLst/>
          </a:prstGeom>
          <a:solidFill>
            <a:srgbClr val="0E7E99">
              <a:alpha val="32000"/>
            </a:srgbClr>
          </a:solidFill>
          <a:ln/>
        </p:spPr>
        <p:txBody>
          <a:bodyPr/>
          <a:lstStyle/>
          <a:p>
            <a:endParaRPr lang="en-US"/>
          </a:p>
        </p:txBody>
      </p:sp>
      <p:sp>
        <p:nvSpPr>
          <p:cNvPr id="7" name="dot"/>
          <p:cNvSpPr/>
          <p:nvPr/>
        </p:nvSpPr>
        <p:spPr>
          <a:xfrm>
            <a:off x="11356848" y="859536"/>
            <a:ext cx="65837" cy="65837"/>
          </a:xfrm>
          <a:prstGeom prst="ellipse">
            <a:avLst/>
          </a:prstGeom>
          <a:solidFill>
            <a:srgbClr val="0E7E99">
              <a:alpha val="32000"/>
            </a:srgbClr>
          </a:solidFill>
          <a:ln/>
        </p:spPr>
        <p:txBody>
          <a:bodyPr/>
          <a:lstStyle/>
          <a:p>
            <a:endParaRPr lang="en-US"/>
          </a:p>
        </p:txBody>
      </p:sp>
      <p:sp>
        <p:nvSpPr>
          <p:cNvPr id="8" name="dot"/>
          <p:cNvSpPr/>
          <p:nvPr/>
        </p:nvSpPr>
        <p:spPr>
          <a:xfrm>
            <a:off x="11512296" y="548640"/>
            <a:ext cx="65837" cy="65837"/>
          </a:xfrm>
          <a:prstGeom prst="ellipse">
            <a:avLst/>
          </a:prstGeom>
          <a:solidFill>
            <a:srgbClr val="0E7E99">
              <a:alpha val="32000"/>
            </a:srgbClr>
          </a:solidFill>
          <a:ln/>
        </p:spPr>
        <p:txBody>
          <a:bodyPr/>
          <a:lstStyle/>
          <a:p>
            <a:endParaRPr lang="en-US"/>
          </a:p>
        </p:txBody>
      </p:sp>
      <p:sp>
        <p:nvSpPr>
          <p:cNvPr id="9" name="dot"/>
          <p:cNvSpPr/>
          <p:nvPr/>
        </p:nvSpPr>
        <p:spPr>
          <a:xfrm>
            <a:off x="11512296" y="704088"/>
            <a:ext cx="65837" cy="65837"/>
          </a:xfrm>
          <a:prstGeom prst="ellipse">
            <a:avLst/>
          </a:prstGeom>
          <a:solidFill>
            <a:srgbClr val="0E7E99">
              <a:alpha val="32000"/>
            </a:srgbClr>
          </a:solidFill>
          <a:ln/>
        </p:spPr>
        <p:txBody>
          <a:bodyPr/>
          <a:lstStyle/>
          <a:p>
            <a:endParaRPr lang="en-US"/>
          </a:p>
        </p:txBody>
      </p:sp>
      <p:sp>
        <p:nvSpPr>
          <p:cNvPr id="10" name="dot"/>
          <p:cNvSpPr/>
          <p:nvPr/>
        </p:nvSpPr>
        <p:spPr>
          <a:xfrm>
            <a:off x="11512296" y="859536"/>
            <a:ext cx="65837" cy="65837"/>
          </a:xfrm>
          <a:prstGeom prst="ellipse">
            <a:avLst/>
          </a:prstGeom>
          <a:solidFill>
            <a:srgbClr val="0E7E99">
              <a:alpha val="32000"/>
            </a:srgbClr>
          </a:solidFill>
          <a:ln/>
        </p:spPr>
        <p:txBody>
          <a:bodyPr/>
          <a:lstStyle/>
          <a:p>
            <a:endParaRPr lang="en-US"/>
          </a:p>
        </p:txBody>
      </p:sp>
      <p:sp>
        <p:nvSpPr>
          <p:cNvPr id="11" name="Text 0"/>
          <p:cNvSpPr>
            <a:spLocks noGrp="1"/>
          </p:cNvSpPr>
          <p:nvPr>
            <p:ph type="title" idx="100" hasCustomPrompt="1"/>
          </p:nvPr>
        </p:nvSpPr>
        <p:spPr>
          <a:xfrm>
            <a:off x="713232" y="475488"/>
            <a:ext cx="10765231" cy="1051560"/>
          </a:xfrm>
          <a:prstGeom prst="rect">
            <a:avLst/>
          </a:prstGeom>
          <a:noFill/>
          <a:ln/>
        </p:spPr>
        <p:txBody>
          <a:bodyPr wrap="square" lIns="0" tIns="0" rIns="0" bIns="0" rtlCol="0" anchor="t"/>
          <a:lstStyle/>
          <a:p>
            <a:pPr marL="0" indent="0">
              <a:buNone/>
            </a:pPr>
            <a:r>
              <a:rPr lang="en-US" sz="6000" b="1" dirty="0" err="1">
                <a:solidFill>
                  <a:srgbClr val="123A6B"/>
                </a:solidFill>
              </a:rPr>
              <a:t>สรุป</a:t>
            </a:r>
            <a:r>
              <a:rPr lang="th-TH" sz="6000" b="1" dirty="0">
                <a:solidFill>
                  <a:srgbClr val="123A6B"/>
                </a:solidFill>
              </a:rPr>
              <a:t>รายการทำ</a:t>
            </a:r>
            <a:endParaRPr lang="en-US" sz="3600" dirty="0"/>
          </a:p>
        </p:txBody>
      </p:sp>
      <p:sp>
        <p:nvSpPr>
          <p:cNvPr id="12" name="wTop"/>
          <p:cNvSpPr/>
          <p:nvPr/>
        </p:nvSpPr>
        <p:spPr>
          <a:xfrm>
            <a:off x="713232" y="1691640"/>
            <a:ext cx="10765231" cy="0"/>
          </a:xfrm>
          <a:prstGeom prst="line">
            <a:avLst/>
          </a:prstGeom>
          <a:noFill/>
          <a:ln w="12700">
            <a:solidFill>
              <a:srgbClr val="123A6B"/>
            </a:solidFill>
            <a:prstDash val="solid"/>
          </a:ln>
        </p:spPr>
        <p:txBody>
          <a:bodyPr/>
          <a:lstStyle/>
          <a:p>
            <a:endParaRPr lang="en-US"/>
          </a:p>
        </p:txBody>
      </p:sp>
      <p:sp>
        <p:nvSpPr>
          <p:cNvPr id="14" name="doneList"/>
          <p:cNvSpPr txBox="1"/>
          <p:nvPr/>
        </p:nvSpPr>
        <p:spPr>
          <a:xfrm>
            <a:off x="690372" y="1911096"/>
            <a:ext cx="5831726" cy="2843783"/>
          </a:xfrm>
          <a:prstGeom prst="rect">
            <a:avLst/>
          </a:prstGeom>
          <a:noFill/>
          <a:ln/>
        </p:spPr>
        <p:txBody>
          <a:bodyPr wrap="square" lIns="0" tIns="0" rIns="0" bIns="0" rtlCol="0" anchor="t"/>
          <a:lstStyle/>
          <a:p>
            <a:pPr marL="0" indent="0">
              <a:spcAft>
                <a:spcPts val="1400"/>
              </a:spcAft>
              <a:buNone/>
            </a:pPr>
            <a:r>
              <a:rPr lang="en-US" sz="2800" dirty="0" err="1">
                <a:solidFill>
                  <a:srgbClr val="123A6B"/>
                </a:solidFill>
              </a:rPr>
              <a:t>เหตุผลการเลือกตัวแบบ</a:t>
            </a:r>
            <a:r>
              <a:rPr lang="en-US" sz="2800" dirty="0">
                <a:solidFill>
                  <a:srgbClr val="123A6B"/>
                </a:solidFill>
              </a:rPr>
              <a:t> </a:t>
            </a:r>
            <a:endParaRPr lang="th-TH" sz="2800" dirty="0">
              <a:solidFill>
                <a:srgbClr val="123A6B"/>
              </a:solidFill>
            </a:endParaRPr>
          </a:p>
          <a:p>
            <a:pPr marL="0" indent="0">
              <a:spcAft>
                <a:spcPts val="1400"/>
              </a:spcAft>
              <a:buNone/>
            </a:pPr>
            <a:r>
              <a:rPr lang="en-US" sz="2800" dirty="0" err="1">
                <a:solidFill>
                  <a:srgbClr val="123A6B"/>
                </a:solidFill>
              </a:rPr>
              <a:t>ปฏิสัมพันธ์</a:t>
            </a:r>
            <a:r>
              <a:rPr lang="th-TH" sz="2800" dirty="0">
                <a:solidFill>
                  <a:srgbClr val="123A6B"/>
                </a:solidFill>
              </a:rPr>
              <a:t>บนหน้าเว็บไซต์</a:t>
            </a:r>
            <a:r>
              <a:rPr lang="en-US" sz="2800" dirty="0">
                <a:solidFill>
                  <a:srgbClr val="123A6B"/>
                </a:solidFill>
              </a:rPr>
              <a:t> </a:t>
            </a:r>
            <a:r>
              <a:rPr lang="en-US" sz="2800" dirty="0" err="1">
                <a:solidFill>
                  <a:srgbClr val="123A6B"/>
                </a:solidFill>
              </a:rPr>
              <a:t>ตรวจ</a:t>
            </a:r>
            <a:r>
              <a:rPr lang="th-TH" sz="2800" dirty="0">
                <a:solidFill>
                  <a:srgbClr val="123A6B"/>
                </a:solidFill>
              </a:rPr>
              <a:t>แล้ว</a:t>
            </a:r>
            <a:r>
              <a:rPr lang="en-US" sz="2800" dirty="0" err="1">
                <a:solidFill>
                  <a:srgbClr val="123A6B"/>
                </a:solidFill>
              </a:rPr>
              <a:t>ทุกขนาดจอ</a:t>
            </a:r>
            <a:endParaRPr lang="en-US" sz="2800" dirty="0"/>
          </a:p>
          <a:p>
            <a:pPr marL="0" indent="0">
              <a:spcAft>
                <a:spcPts val="1400"/>
              </a:spcAft>
              <a:buNone/>
            </a:pPr>
            <a:r>
              <a:rPr lang="en-US" sz="2800" dirty="0">
                <a:solidFill>
                  <a:srgbClr val="123A6B"/>
                </a:solidFill>
              </a:rPr>
              <a:t>หน้าทำนายกรอกใหม่ได้ และแสดงกฎจริง</a:t>
            </a:r>
            <a:endParaRPr lang="en-US" sz="2800" dirty="0"/>
          </a:p>
          <a:p>
            <a:pPr marL="0" indent="0">
              <a:spcAft>
                <a:spcPts val="1400"/>
              </a:spcAft>
              <a:buNone/>
            </a:pPr>
            <a:r>
              <a:rPr lang="en-US" sz="2800" dirty="0">
                <a:solidFill>
                  <a:srgbClr val="123A6B"/>
                </a:solidFill>
              </a:rPr>
              <a:t>ภาพต้นไม้อ่านได้ทุกป้าย</a:t>
            </a:r>
            <a:endParaRPr lang="en-US" sz="2800" dirty="0"/>
          </a:p>
          <a:p>
            <a:pPr marL="0" indent="0">
              <a:spcAft>
                <a:spcPts val="1400"/>
              </a:spcAft>
              <a:buNone/>
            </a:pPr>
            <a:r>
              <a:rPr lang="en-US" sz="2800" dirty="0">
                <a:solidFill>
                  <a:srgbClr val="123A6B"/>
                </a:solidFill>
              </a:rPr>
              <a:t>ข้อสงสัยที่พบบ่อย มีคำอธิบายในเว็บแล้ว</a:t>
            </a:r>
            <a:endParaRPr lang="en-US" sz="2800" dirty="0"/>
          </a:p>
        </p:txBody>
      </p:sp>
      <p:sp>
        <p:nvSpPr>
          <p:cNvPr id="17" name="wMid"/>
          <p:cNvSpPr/>
          <p:nvPr/>
        </p:nvSpPr>
        <p:spPr>
          <a:xfrm>
            <a:off x="713232" y="5029200"/>
            <a:ext cx="10765231" cy="0"/>
          </a:xfrm>
          <a:prstGeom prst="line">
            <a:avLst/>
          </a:prstGeom>
          <a:noFill/>
          <a:ln w="12700">
            <a:solidFill>
              <a:srgbClr val="D5DEE6"/>
            </a:solidFill>
            <a:prstDash val="solid"/>
          </a:ln>
        </p:spPr>
        <p:txBody>
          <a:bodyPr/>
          <a:lstStyle/>
          <a:p>
            <a:endParaRPr lang="en-US"/>
          </a:p>
        </p:txBody>
      </p:sp>
      <p:sp>
        <p:nvSpPr>
          <p:cNvPr id="18" name="kpi0"/>
          <p:cNvSpPr txBox="1"/>
          <p:nvPr/>
        </p:nvSpPr>
        <p:spPr>
          <a:xfrm>
            <a:off x="713232" y="5303520"/>
            <a:ext cx="2451278" cy="548640"/>
          </a:xfrm>
          <a:prstGeom prst="rect">
            <a:avLst/>
          </a:prstGeom>
          <a:noFill/>
          <a:ln/>
        </p:spPr>
        <p:txBody>
          <a:bodyPr wrap="square" lIns="0" tIns="0" rIns="0" bIns="0" rtlCol="0" anchor="ctr"/>
          <a:lstStyle/>
          <a:p>
            <a:pPr marL="0" indent="0">
              <a:buNone/>
            </a:pPr>
            <a:r>
              <a:rPr lang="en-US" sz="3200" b="1" dirty="0">
                <a:solidFill>
                  <a:srgbClr val="123A6B"/>
                </a:solidFill>
              </a:rPr>
              <a:t>1,572,358</a:t>
            </a:r>
            <a:endParaRPr lang="en-US" sz="3200" dirty="0"/>
          </a:p>
        </p:txBody>
      </p:sp>
      <p:sp>
        <p:nvSpPr>
          <p:cNvPr id="19" name="Text 17"/>
          <p:cNvSpPr txBox="1"/>
          <p:nvPr/>
        </p:nvSpPr>
        <p:spPr>
          <a:xfrm>
            <a:off x="713232" y="5925312"/>
            <a:ext cx="2451278" cy="365760"/>
          </a:xfrm>
          <a:prstGeom prst="rect">
            <a:avLst/>
          </a:prstGeom>
          <a:noFill/>
          <a:ln/>
        </p:spPr>
        <p:txBody>
          <a:bodyPr wrap="square" lIns="0" tIns="0" rIns="0" bIns="0" rtlCol="0" anchor="t"/>
          <a:lstStyle/>
          <a:p>
            <a:pPr marL="0" indent="0">
              <a:lnSpc>
                <a:spcPct val="135000"/>
              </a:lnSpc>
              <a:buNone/>
            </a:pPr>
            <a:r>
              <a:rPr lang="en-US" sz="1600" dirty="0">
                <a:solidFill>
                  <a:srgbClr val="78899C"/>
                </a:solidFill>
              </a:rPr>
              <a:t>รายการที่ใช้เทรน</a:t>
            </a:r>
            <a:endParaRPr lang="en-US" sz="1600" dirty="0"/>
          </a:p>
        </p:txBody>
      </p:sp>
      <p:sp>
        <p:nvSpPr>
          <p:cNvPr id="20" name="kpi1"/>
          <p:cNvSpPr txBox="1"/>
          <p:nvPr/>
        </p:nvSpPr>
        <p:spPr>
          <a:xfrm>
            <a:off x="3484550" y="5303520"/>
            <a:ext cx="2451278" cy="548640"/>
          </a:xfrm>
          <a:prstGeom prst="rect">
            <a:avLst/>
          </a:prstGeom>
          <a:noFill/>
          <a:ln/>
        </p:spPr>
        <p:txBody>
          <a:bodyPr wrap="square" lIns="0" tIns="0" rIns="0" bIns="0" rtlCol="0" anchor="ctr"/>
          <a:lstStyle/>
          <a:p>
            <a:pPr marL="0" indent="0">
              <a:buNone/>
            </a:pPr>
            <a:r>
              <a:rPr lang="en-US" sz="3200" b="1" dirty="0">
                <a:solidFill>
                  <a:srgbClr val="123A6B"/>
                </a:solidFill>
              </a:rPr>
              <a:t>99.28%</a:t>
            </a:r>
            <a:endParaRPr lang="en-US" sz="3200" dirty="0"/>
          </a:p>
        </p:txBody>
      </p:sp>
      <p:sp>
        <p:nvSpPr>
          <p:cNvPr id="21" name="Text 19"/>
          <p:cNvSpPr txBox="1"/>
          <p:nvPr/>
        </p:nvSpPr>
        <p:spPr>
          <a:xfrm>
            <a:off x="3484550" y="5925312"/>
            <a:ext cx="2451278" cy="365760"/>
          </a:xfrm>
          <a:prstGeom prst="rect">
            <a:avLst/>
          </a:prstGeom>
          <a:noFill/>
          <a:ln/>
        </p:spPr>
        <p:txBody>
          <a:bodyPr wrap="square" lIns="0" tIns="0" rIns="0" bIns="0" rtlCol="0" anchor="t"/>
          <a:lstStyle/>
          <a:p>
            <a:pPr marL="0" indent="0">
              <a:lnSpc>
                <a:spcPct val="135000"/>
              </a:lnSpc>
              <a:buNone/>
            </a:pPr>
            <a:r>
              <a:rPr lang="en-US" sz="1600" dirty="0">
                <a:solidFill>
                  <a:srgbClr val="78899C"/>
                </a:solidFill>
              </a:rPr>
              <a:t>ความแม่นยำตัวแบบ</a:t>
            </a:r>
            <a:endParaRPr lang="en-US" sz="1600" dirty="0"/>
          </a:p>
        </p:txBody>
      </p:sp>
      <p:sp>
        <p:nvSpPr>
          <p:cNvPr id="22" name="kpi2"/>
          <p:cNvSpPr txBox="1"/>
          <p:nvPr/>
        </p:nvSpPr>
        <p:spPr>
          <a:xfrm>
            <a:off x="6255868" y="5303520"/>
            <a:ext cx="2451278" cy="548640"/>
          </a:xfrm>
          <a:prstGeom prst="rect">
            <a:avLst/>
          </a:prstGeom>
          <a:noFill/>
          <a:ln/>
        </p:spPr>
        <p:txBody>
          <a:bodyPr wrap="square" lIns="0" tIns="0" rIns="0" bIns="0" rtlCol="0" anchor="ctr"/>
          <a:lstStyle/>
          <a:p>
            <a:pPr marL="0" indent="0">
              <a:buNone/>
            </a:pPr>
            <a:r>
              <a:rPr lang="en-US" sz="3200" b="1" dirty="0">
                <a:solidFill>
                  <a:srgbClr val="123A6B"/>
                </a:solidFill>
              </a:rPr>
              <a:t>92</a:t>
            </a:r>
            <a:endParaRPr lang="en-US" sz="3200" dirty="0"/>
          </a:p>
        </p:txBody>
      </p:sp>
      <p:sp>
        <p:nvSpPr>
          <p:cNvPr id="23" name="Text 21"/>
          <p:cNvSpPr txBox="1"/>
          <p:nvPr/>
        </p:nvSpPr>
        <p:spPr>
          <a:xfrm>
            <a:off x="6255868" y="5925312"/>
            <a:ext cx="2451278" cy="365760"/>
          </a:xfrm>
          <a:prstGeom prst="rect">
            <a:avLst/>
          </a:prstGeom>
          <a:noFill/>
          <a:ln/>
        </p:spPr>
        <p:txBody>
          <a:bodyPr wrap="square" lIns="0" tIns="0" rIns="0" bIns="0" rtlCol="0" anchor="t"/>
          <a:lstStyle/>
          <a:p>
            <a:pPr marL="0" indent="0">
              <a:lnSpc>
                <a:spcPct val="135000"/>
              </a:lnSpc>
              <a:buNone/>
            </a:pPr>
            <a:r>
              <a:rPr lang="en-US" sz="1600" dirty="0">
                <a:solidFill>
                  <a:srgbClr val="78899C"/>
                </a:solidFill>
              </a:rPr>
              <a:t>กฎที่สกัดจากต้นไม้</a:t>
            </a:r>
            <a:endParaRPr lang="en-US" sz="1600" dirty="0"/>
          </a:p>
        </p:txBody>
      </p:sp>
      <p:sp>
        <p:nvSpPr>
          <p:cNvPr id="24" name="kpi3"/>
          <p:cNvSpPr txBox="1"/>
          <p:nvPr/>
        </p:nvSpPr>
        <p:spPr>
          <a:xfrm>
            <a:off x="9027185" y="5303520"/>
            <a:ext cx="2451278" cy="548640"/>
          </a:xfrm>
          <a:prstGeom prst="rect">
            <a:avLst/>
          </a:prstGeom>
          <a:noFill/>
          <a:ln/>
        </p:spPr>
        <p:txBody>
          <a:bodyPr wrap="square" lIns="0" tIns="0" rIns="0" bIns="0" rtlCol="0" anchor="ctr"/>
          <a:lstStyle/>
          <a:p>
            <a:pPr marL="0" indent="0">
              <a:buNone/>
            </a:pPr>
            <a:r>
              <a:rPr lang="en-US" sz="3200" b="1" dirty="0">
                <a:solidFill>
                  <a:srgbClr val="123A6B"/>
                </a:solidFill>
              </a:rPr>
              <a:t>10 หน้า</a:t>
            </a:r>
            <a:endParaRPr lang="en-US" sz="3200" dirty="0"/>
          </a:p>
        </p:txBody>
      </p:sp>
      <p:sp>
        <p:nvSpPr>
          <p:cNvPr id="25" name="Text 23"/>
          <p:cNvSpPr txBox="1"/>
          <p:nvPr/>
        </p:nvSpPr>
        <p:spPr>
          <a:xfrm>
            <a:off x="9027185" y="5925312"/>
            <a:ext cx="2451278" cy="365760"/>
          </a:xfrm>
          <a:prstGeom prst="rect">
            <a:avLst/>
          </a:prstGeom>
          <a:noFill/>
          <a:ln/>
        </p:spPr>
        <p:txBody>
          <a:bodyPr wrap="square" lIns="0" tIns="0" rIns="0" bIns="0" rtlCol="0" anchor="t"/>
          <a:lstStyle/>
          <a:p>
            <a:pPr marL="0" indent="0">
              <a:lnSpc>
                <a:spcPct val="135000"/>
              </a:lnSpc>
              <a:buNone/>
            </a:pPr>
            <a:r>
              <a:rPr lang="en-US" sz="1600" dirty="0">
                <a:solidFill>
                  <a:srgbClr val="78899C"/>
                </a:solidFill>
              </a:rPr>
              <a:t>ตรวจครบทุกขนาดจอ</a:t>
            </a:r>
            <a:endParaRPr lang="en-US" sz="1600" dirty="0"/>
          </a:p>
        </p:txBody>
      </p:sp>
      <p:sp>
        <p:nvSpPr>
          <p:cNvPr id="26" name="Slide Number Placeholder 0"/>
          <p:cNvSpPr>
            <a:spLocks noGrp="1"/>
          </p:cNvSpPr>
          <p:nvPr>
            <p:ph type="sldNum" sz="quarter" idx="4294967295"/>
          </p:nvPr>
        </p:nvSpPr>
        <p:spPr>
          <a:xfrm>
            <a:off x="10972800" y="6364224"/>
            <a:ext cx="502920" cy="274320"/>
          </a:xfrm>
          <a:prstGeom prst="rect">
            <a:avLst/>
          </a:prstGeom>
          <a:extLst>
            <a:ext uri="{C572A759-6A51-4108-AA02-DFA0A04FC94B}">
              <ma14:wrappingTextBoxFlag xmlns="" xmlns:ma14="http://schemas.microsoft.com/office/mac/drawingml/2011/main" val="0"/>
            </a:ext>
          </a:extLst>
        </p:spPr>
        <p:txBody>
          <a:bodyPr/>
          <a:lstStyle>
            <a:lvl1pPr>
              <a:defRPr sz="1200">
                <a:solidFill>
                  <a:srgbClr val="78899C"/>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Aquatic Export Classification">
  <a:themeElements>
    <a:clrScheme name="Aquatic Export Classification">
      <a:dk1>
        <a:srgbClr val="123A6B"/>
      </a:dk1>
      <a:lt1>
        <a:srgbClr val="FFFFFF"/>
      </a:lt1>
      <a:dk2>
        <a:srgbClr val="44576E"/>
      </a:dk2>
      <a:lt2>
        <a:srgbClr val="F7F9FB"/>
      </a:lt2>
      <a:accent1>
        <a:srgbClr val="0E7E99"/>
      </a:accent1>
      <a:accent2>
        <a:srgbClr val="B96F22"/>
      </a:accent2>
      <a:accent3>
        <a:srgbClr val="44576E"/>
      </a:accent3>
      <a:accent4>
        <a:srgbClr val="E6F0F6"/>
      </a:accent4>
      <a:accent5>
        <a:srgbClr val="78899C"/>
      </a:accent5>
      <a:accent6>
        <a:srgbClr val="D5DEE6"/>
      </a:accent6>
      <a:hlink>
        <a:srgbClr val="0E7E99"/>
      </a:hlink>
      <a:folHlink>
        <a:srgbClr val="B96F22"/>
      </a:folHlink>
    </a:clrScheme>
    <a:fontScheme name="Aquatic Export Classification">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1217</Words>
  <Application>Microsoft Office PowerPoint</Application>
  <PresentationFormat>Widescreen</PresentationFormat>
  <Paragraphs>152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Tahoma</vt:lpstr>
      <vt:lpstr>Aquatic Export Classification</vt:lpstr>
      <vt:lpstr>การจำแนกช่องทางการขนส่งสินค้าส่งออกสัตว์น้ำด้วยเทคนิคเหมืองข้อมูล </vt:lpstr>
      <vt:lpstr>อาจารย์ที่ปรึกษา และผู้จัดทำ</vt:lpstr>
      <vt:lpstr>ปรับปรุงเว็บไซต์ 4 ด้าน ในรอบนี้</vt:lpstr>
      <vt:lpstr>แก้ข้อความเหตุผลการเลือกโมเดล</vt:lpstr>
      <vt:lpstr>รันตัวแบบซ้ำด้วย Python</vt:lpstr>
      <vt:lpstr>เพิ่มปฏิสัมพันธ์ครบทั้งห้าอย่าง</vt:lpstr>
      <vt:lpstr>ตรวจการแสดงผลครบ 10 หน้า 9 ความกว้าง 2 โหมดสี</vt:lpstr>
      <vt:lpstr>ปรับหน้าทดลองทำนาย ให้กรอกใหม่ได้และเห็นกฎจริง</vt:lpstr>
      <vt:lpstr>ทำภาพต้นไม้การตัดสินใจ 3 มุมมอง</vt:lpstr>
      <vt:lpstr>เพิ่มคำอธิบายในเว็บ จากข้อสงสัยที่พบตอนให้คนลองใช้</vt:lpstr>
      <vt:lpstr>สรุปรายการทำ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ความคืบหน้าเว็บไซต์โครงงาน — การจำแนกช่องทางขนส่งสัตว์น้ำ</dc:title>
  <dc:subject>ความคืบหน้าโครงงานปริญญานิพนธ์</dc:subject>
  <dc:creator>ณัฐพงศ์ ไชยพูน</dc:creator>
  <cp:lastModifiedBy>Nattapong Chaipoon</cp:lastModifiedBy>
  <cp:revision>3</cp:revision>
  <dcterms:created xsi:type="dcterms:W3CDTF">2026-10-07T04:18:41Z</dcterms:created>
  <dcterms:modified xsi:type="dcterms:W3CDTF">2026-10-07T04:57:48Z</dcterms:modified>
</cp:coreProperties>
</file>